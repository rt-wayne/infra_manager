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開場" id="{9c453d12-549c-8529-032d-1d3d7679b24f}">
          <p14:sldIdLst>
            <p14:sldId id="256"/>
            <p14:sldId id="257"/>
          </p14:sldIdLst>
        </p14:section>
        <p14:section name="範圍與角色" id="{f749ddd5-cefb-6b09-ed67-c15b0922053e}">
          <p14:sldIdLst>
            <p14:sldId id="258"/>
            <p14:sldId id="259"/>
            <p14:sldId id="260"/>
            <p14:sldId id="261"/>
            <p14:sldId id="262"/>
          </p14:sldIdLst>
        </p14:section>
        <p14:section name="作業流程" id="{3d5b5564-a572-eb80-228f-6ca3c4d6b59d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功能與範圍" id="{31a65035-b005-e8aa-d684-18c059e095d1}">
          <p14:sldIdLst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說明這套系統的範圍、角色分工、主要作業流程，以及分兩階段的功能範圍。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四個重點：範圍、角色、管控、分階段。後面各頁依序展開。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種類別全部開發，優先開放主機、資料庫、機房門禁卡三種；其餘五種後續開放只需調整設定。下一頁是 8 種類別的完整說明。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執行人依帳號類別分派。Alex 負責其中 6 種類別的執行，後續開放時要留意工作量。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前四點說明為什麼一定要做：不翻寫無法上線，而且現況不符規範。後四點是翻寫之後一併得到的效益。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角色代表職位，系統依角色判斷權限，不寫死人名。一位同仁可以同時擁有多個角色。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執行人不屬於核准角色，依帳號類別分派，見「可申請的帳號類別」那一頁。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2～5 關與第 7 關只做審核，不需填寫，只有退件或退回時要填原因。帳號在執行人建立時就已生效；複驗是確認建立的內容正確後，才交付給使用者。停用與刪除在執行人完成時生效，複驗是事後核對。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申請表共 16 個欄位，分成四組。送出前須勾選帳號唯一性聲明，帳號不得共用或轉借。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除了新增，其他四種都要針對一筆既有帳號提出。刪除不會真的刪掉資料，只是狀態改為已刪除，歷史紀錄保留供稽核。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第一點是整套系統的稽核基礎：任何「誰做了這件事」都記錄當下實際操作的人。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到期只寄三種信，已逾期之後不再每天寄，避免被當成垃圾信；改為每週一彙總給資訊治理組追蹤。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審查狀態與帳號狀態是分開的：一個 root 帳號可以同時是「已核准」加「待複審」。第一階段就會開始記錄審查起算日，第二階段上線時 180 天週期已經在計算。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審查完成後，下一輪會在 150 天後（距下次應審查日 30 天）自動再進入待複審。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預估使用時長由申請人選，補核准期限固定 24 小時，兩者不相關。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巡檢狀態依處理進度自動轉換，不需人工調整。能查詢巡檢紀錄的人都能填寫巡檢。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右欄是可使用者。所有權限都由系統後端檢查。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第一階段完成後，第二階段的定期權限審查可以直接接上，因為第一階段就會開始記錄每個帳號的審查起算日。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57400"/>
            <a:ext cx="106070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154680"/>
            <a:ext cx="100584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機房與帳號權限管理系統 — 系統說明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image" Target="../media/image-8-2.png"/><Relationship Id="rId5" Type="http://schemas.openxmlformats.org/officeDocument/2006/relationships/image" Target="../media/image-8-2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73152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bg2"/>
                </a:solidFill>
              </a:rPr>
              <a:t>資訊部 · 系統說明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0574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機房與帳號權限管理系統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1546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機房異動申請、帳號權限管理、機房巡檢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作業流程、角色定義與功能說明</a:t>
            </a:r>
            <a:endParaRPr lang="en-US" sz="2000" dirty="0"/>
          </a:p>
        </p:txBody>
      </p:sp>
      <p:sp>
        <p:nvSpPr>
          <p:cNvPr id="5" name="line-2"/>
          <p:cNvSpPr/>
          <p:nvPr/>
        </p:nvSpPr>
        <p:spPr>
          <a:xfrm>
            <a:off x="731520" y="4800600"/>
            <a:ext cx="566928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6" name="text-3"/>
          <p:cNvSpPr txBox="1"/>
          <p:nvPr/>
        </p:nvSpPr>
        <p:spPr>
          <a:xfrm>
            <a:off x="731520" y="4983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需求提出：資訊治理組　｜　開發：資訊部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重點摘要</a:t>
            </a:r>
            <a:endParaRPr lang="en-US" sz="3600" dirty="0"/>
          </a:p>
        </p:txBody>
      </p:sp>
      <p:sp>
        <p:nvSpPr>
          <p:cNvPr id="3" name="panel-4"/>
          <p:cNvSpPr/>
          <p:nvPr/>
        </p:nvSpPr>
        <p:spPr>
          <a:xfrm>
            <a:off x="548640" y="1463040"/>
            <a:ext cx="5440680" cy="2194560"/>
          </a:xfrm>
          <a:prstGeom prst="roundRect">
            <a:avLst>
              <a:gd name="adj" fmla="val 2500"/>
            </a:avLst>
          </a:prstGeom>
          <a:solidFill>
            <a:schemeClr val="accent6">
              <a:alpha val="7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hip-5"/>
          <p:cNvSpPr/>
          <p:nvPr/>
        </p:nvSpPr>
        <p:spPr>
          <a:xfrm>
            <a:off x="822960" y="17373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-6"/>
          <p:cNvSpPr txBox="1"/>
          <p:nvPr/>
        </p:nvSpPr>
        <p:spPr>
          <a:xfrm>
            <a:off x="82296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-7"/>
          <p:cNvSpPr txBox="1"/>
          <p:nvPr/>
        </p:nvSpPr>
        <p:spPr>
          <a:xfrm>
            <a:off x="1371600" y="1719072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做什麼</a:t>
            </a:r>
            <a:endParaRPr lang="en-US" sz="2000" dirty="0"/>
          </a:p>
        </p:txBody>
      </p:sp>
      <p:sp>
        <p:nvSpPr>
          <p:cNvPr id="7" name="text-8"/>
          <p:cNvSpPr txBox="1"/>
          <p:nvPr/>
        </p:nvSpPr>
        <p:spPr>
          <a:xfrm>
            <a:off x="822960" y="233172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新增「帳號權限管理」與「機房巡檢」兩個模組，並全面翻寫「機房異動申請」。三個模組共用同一個登入頁與角色權限。</a:t>
            </a:r>
            <a:endParaRPr lang="en-US" sz="1500" dirty="0"/>
          </a:p>
        </p:txBody>
      </p:sp>
      <p:sp>
        <p:nvSpPr>
          <p:cNvPr id="8" name="panel-9"/>
          <p:cNvSpPr/>
          <p:nvPr/>
        </p:nvSpPr>
        <p:spPr>
          <a:xfrm>
            <a:off x="6190488" y="1463040"/>
            <a:ext cx="5440680" cy="2194560"/>
          </a:xfrm>
          <a:prstGeom prst="roundRect">
            <a:avLst>
              <a:gd name="adj" fmla="val 2500"/>
            </a:avLst>
          </a:prstGeom>
          <a:solidFill>
            <a:schemeClr val="accent6">
              <a:alpha val="7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hip-10"/>
          <p:cNvSpPr/>
          <p:nvPr/>
        </p:nvSpPr>
        <p:spPr>
          <a:xfrm>
            <a:off x="6464808" y="17373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-11"/>
          <p:cNvSpPr txBox="1"/>
          <p:nvPr/>
        </p:nvSpPr>
        <p:spPr>
          <a:xfrm>
            <a:off x="6464808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-12"/>
          <p:cNvSpPr txBox="1"/>
          <p:nvPr/>
        </p:nvSpPr>
        <p:spPr>
          <a:xfrm>
            <a:off x="7013448" y="1719072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誰來用</a:t>
            </a:r>
            <a:endParaRPr lang="en-US" sz="2000" dirty="0"/>
          </a:p>
        </p:txBody>
      </p:sp>
      <p:sp>
        <p:nvSpPr>
          <p:cNvPr id="12" name="text-13"/>
          <p:cNvSpPr txBox="1"/>
          <p:nvPr/>
        </p:nvSpPr>
        <p:spPr>
          <a:xfrm>
            <a:off x="6464808" y="233172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全資訊部同仁都能申請；核准與執行依職位分工，共 9 種角色。人員異動只需調整角色名單，不需改程式。</a:t>
            </a:r>
            <a:endParaRPr lang="en-US" sz="1500" dirty="0"/>
          </a:p>
        </p:txBody>
      </p:sp>
      <p:sp>
        <p:nvSpPr>
          <p:cNvPr id="13" name="panel-14"/>
          <p:cNvSpPr/>
          <p:nvPr/>
        </p:nvSpPr>
        <p:spPr>
          <a:xfrm>
            <a:off x="548640" y="3886200"/>
            <a:ext cx="5440680" cy="2194560"/>
          </a:xfrm>
          <a:prstGeom prst="roundRect">
            <a:avLst>
              <a:gd name="adj" fmla="val 2500"/>
            </a:avLst>
          </a:prstGeom>
          <a:solidFill>
            <a:schemeClr val="accent6">
              <a:alpha val="7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hip-15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-16"/>
          <p:cNvSpPr txBox="1"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-17"/>
          <p:cNvSpPr txBox="1"/>
          <p:nvPr/>
        </p:nvSpPr>
        <p:spPr>
          <a:xfrm>
            <a:off x="1371600" y="4142232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管控重點</a:t>
            </a:r>
            <a:endParaRPr lang="en-US" sz="2000" dirty="0"/>
          </a:p>
        </p:txBody>
      </p:sp>
      <p:sp>
        <p:nvSpPr>
          <p:cNvPr id="17" name="text-18"/>
          <p:cNvSpPr txBox="1"/>
          <p:nvPr/>
        </p:nvSpPr>
        <p:spPr>
          <a:xfrm>
            <a:off x="822960" y="475488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每一步都記錄實際操作人與時間；執行後由資訊治理複驗，通過才交付帳號；帳號到期自動標示並 Email 通知。</a:t>
            </a:r>
            <a:endParaRPr lang="en-US" sz="1500" dirty="0"/>
          </a:p>
        </p:txBody>
      </p:sp>
      <p:sp>
        <p:nvSpPr>
          <p:cNvPr id="18" name="panel-19"/>
          <p:cNvSpPr/>
          <p:nvPr/>
        </p:nvSpPr>
        <p:spPr>
          <a:xfrm>
            <a:off x="6190488" y="3886200"/>
            <a:ext cx="5440680" cy="2194560"/>
          </a:xfrm>
          <a:prstGeom prst="roundRect">
            <a:avLst>
              <a:gd name="adj" fmla="val 2500"/>
            </a:avLst>
          </a:prstGeom>
          <a:solidFill>
            <a:schemeClr val="accent6">
              <a:alpha val="7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chip-20"/>
          <p:cNvSpPr/>
          <p:nvPr/>
        </p:nvSpPr>
        <p:spPr>
          <a:xfrm>
            <a:off x="6464808" y="41605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-21"/>
          <p:cNvSpPr txBox="1"/>
          <p:nvPr/>
        </p:nvSpPr>
        <p:spPr>
          <a:xfrm>
            <a:off x="6464808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-22"/>
          <p:cNvSpPr txBox="1"/>
          <p:nvPr/>
        </p:nvSpPr>
        <p:spPr>
          <a:xfrm>
            <a:off x="7013448" y="4142232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分兩階段</a:t>
            </a:r>
            <a:endParaRPr lang="en-US" sz="2000" dirty="0"/>
          </a:p>
        </p:txBody>
      </p:sp>
      <p:sp>
        <p:nvSpPr>
          <p:cNvPr id="22" name="text-23"/>
          <p:cNvSpPr txBox="1"/>
          <p:nvPr/>
        </p:nvSpPr>
        <p:spPr>
          <a:xfrm>
            <a:off x="6464808" y="475488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第一階段：帳號申請與簽核、到期管理、機房巡檢、機房異動申請翻寫。第二階段：定期權限審查、緊急存取、統計與匯出。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系統範圍：三個模組</a:t>
            </a:r>
            <a:endParaRPr lang="en-US" sz="3600" dirty="0"/>
          </a:p>
        </p:txBody>
      </p:sp>
      <p:sp>
        <p:nvSpPr>
          <p:cNvPr id="3" name="panel-24"/>
          <p:cNvSpPr/>
          <p:nvPr/>
        </p:nvSpPr>
        <p:spPr>
          <a:xfrm>
            <a:off x="548640" y="1417320"/>
            <a:ext cx="3520440" cy="1097280"/>
          </a:xfrm>
          <a:prstGeom prst="roundRect">
            <a:avLst>
              <a:gd name="adj" fmla="val 5000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-25"/>
          <p:cNvSpPr txBox="1"/>
          <p:nvPr/>
        </p:nvSpPr>
        <p:spPr>
          <a:xfrm>
            <a:off x="621792" y="1417320"/>
            <a:ext cx="33741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機房異動申請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6"/>
                </a:solidFill>
              </a:rPr>
              <a:t>全面翻寫</a:t>
            </a:r>
            <a:endParaRPr lang="en-US" sz="1400" dirty="0"/>
          </a:p>
        </p:txBody>
      </p:sp>
      <p:sp>
        <p:nvSpPr>
          <p:cNvPr id="5" name="panel-26"/>
          <p:cNvSpPr/>
          <p:nvPr/>
        </p:nvSpPr>
        <p:spPr>
          <a:xfrm>
            <a:off x="4315968" y="1417320"/>
            <a:ext cx="3520440" cy="1097280"/>
          </a:xfrm>
          <a:prstGeom prst="roundRect">
            <a:avLst>
              <a:gd name="adj" fmla="val 5000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-27"/>
          <p:cNvSpPr txBox="1"/>
          <p:nvPr/>
        </p:nvSpPr>
        <p:spPr>
          <a:xfrm>
            <a:off x="4389120" y="1417320"/>
            <a:ext cx="33741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帳號權限管理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6"/>
                </a:solidFill>
              </a:rPr>
              <a:t>新增</a:t>
            </a:r>
            <a:endParaRPr lang="en-US" sz="1400" dirty="0"/>
          </a:p>
        </p:txBody>
      </p:sp>
      <p:sp>
        <p:nvSpPr>
          <p:cNvPr id="7" name="panel-28"/>
          <p:cNvSpPr/>
          <p:nvPr/>
        </p:nvSpPr>
        <p:spPr>
          <a:xfrm>
            <a:off x="8083296" y="1417320"/>
            <a:ext cx="3520440" cy="1097280"/>
          </a:xfrm>
          <a:prstGeom prst="roundRect">
            <a:avLst>
              <a:gd name="adj" fmla="val 5000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-29"/>
          <p:cNvSpPr txBox="1"/>
          <p:nvPr/>
        </p:nvSpPr>
        <p:spPr>
          <a:xfrm>
            <a:off x="8156448" y="1417320"/>
            <a:ext cx="33741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機房巡檢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accent6"/>
                </a:solidFill>
              </a:rPr>
              <a:t>新增</a:t>
            </a:r>
            <a:endParaRPr lang="en-US" sz="1400" dirty="0"/>
          </a:p>
        </p:txBody>
      </p:sp>
      <p:sp>
        <p:nvSpPr>
          <p:cNvPr id="9" name="text-30"/>
          <p:cNvSpPr txBox="1"/>
          <p:nvPr/>
        </p:nvSpPr>
        <p:spPr>
          <a:xfrm>
            <a:off x="548640" y="2606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三個模組共用同一個登入頁、角色權限與 Email 通知</a:t>
            </a:r>
            <a:endParaRPr lang="en-US" sz="1200" dirty="0"/>
          </a:p>
        </p:txBody>
      </p:sp>
      <p:sp>
        <p:nvSpPr>
          <p:cNvPr id="10" name="text-31"/>
          <p:cNvSpPr txBox="1"/>
          <p:nvPr/>
        </p:nvSpPr>
        <p:spPr>
          <a:xfrm>
            <a:off x="548640" y="31546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帳號權限管理涵蓋 8 種帳號類別，全部走同一套流程；優先開放主機、資料庫、機房門禁卡</a:t>
            </a:r>
            <a:endParaRPr lang="en-US" sz="1600" dirty="0"/>
          </a:p>
        </p:txBody>
      </p:sp>
      <p:sp>
        <p:nvSpPr>
          <p:cNvPr id="11" name="panel-32"/>
          <p:cNvSpPr/>
          <p:nvPr/>
        </p:nvSpPr>
        <p:spPr>
          <a:xfrm>
            <a:off x="548640" y="3703320"/>
            <a:ext cx="2633472" cy="713232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2" name="text-33"/>
          <p:cNvSpPr txBox="1"/>
          <p:nvPr/>
        </p:nvSpPr>
        <p:spPr>
          <a:xfrm>
            <a:off x="621792" y="3703320"/>
            <a:ext cx="2487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主機帳號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bg1"/>
                </a:solidFill>
              </a:rPr>
              <a:t>優先開放</a:t>
            </a:r>
            <a:endParaRPr lang="en-US" sz="1400" dirty="0"/>
          </a:p>
        </p:txBody>
      </p:sp>
      <p:sp>
        <p:nvSpPr>
          <p:cNvPr id="13" name="panel-34"/>
          <p:cNvSpPr/>
          <p:nvPr/>
        </p:nvSpPr>
        <p:spPr>
          <a:xfrm>
            <a:off x="3364992" y="3703320"/>
            <a:ext cx="2633472" cy="713232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4" name="text-35"/>
          <p:cNvSpPr txBox="1"/>
          <p:nvPr/>
        </p:nvSpPr>
        <p:spPr>
          <a:xfrm>
            <a:off x="3438144" y="3703320"/>
            <a:ext cx="2487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資料庫帳號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bg1"/>
                </a:solidFill>
              </a:rPr>
              <a:t>優先開放</a:t>
            </a:r>
            <a:endParaRPr lang="en-US" sz="1400" dirty="0"/>
          </a:p>
        </p:txBody>
      </p:sp>
      <p:sp>
        <p:nvSpPr>
          <p:cNvPr id="15" name="panel-36"/>
          <p:cNvSpPr/>
          <p:nvPr/>
        </p:nvSpPr>
        <p:spPr>
          <a:xfrm>
            <a:off x="6181344" y="3703320"/>
            <a:ext cx="2633472" cy="713232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6" name="text-37"/>
          <p:cNvSpPr txBox="1"/>
          <p:nvPr/>
        </p:nvSpPr>
        <p:spPr>
          <a:xfrm>
            <a:off x="6254496" y="3703320"/>
            <a:ext cx="2487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機房門禁卡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bg1"/>
                </a:solidFill>
              </a:rPr>
              <a:t>優先開放</a:t>
            </a:r>
            <a:endParaRPr lang="en-US" sz="1400" dirty="0"/>
          </a:p>
        </p:txBody>
      </p:sp>
      <p:sp>
        <p:nvSpPr>
          <p:cNvPr id="17" name="panel-38"/>
          <p:cNvSpPr/>
          <p:nvPr/>
        </p:nvSpPr>
        <p:spPr>
          <a:xfrm>
            <a:off x="8997696" y="3703320"/>
            <a:ext cx="2633472" cy="713232"/>
          </a:xfrm>
          <a:prstGeom prst="roundRect">
            <a:avLst>
              <a:gd name="adj" fmla="val 7692"/>
            </a:avLst>
          </a:prstGeom>
          <a:solidFill>
            <a:schemeClr val="accent6">
              <a:alpha val="5000"/>
            </a:schemeClr>
          </a:solidFill>
          <a:ln w="9525">
            <a:solidFill>
              <a:schemeClr val="bg2"/>
            </a:solidFill>
            <a:prstDash val="dash"/>
          </a:ln>
        </p:spPr>
      </p:sp>
      <p:sp>
        <p:nvSpPr>
          <p:cNvPr id="18" name="text-39"/>
          <p:cNvSpPr txBox="1"/>
          <p:nvPr/>
        </p:nvSpPr>
        <p:spPr>
          <a:xfrm>
            <a:off x="9070848" y="3703320"/>
            <a:ext cx="2487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accent6"/>
                </a:solidFill>
              </a:rPr>
              <a:t>應用系統帳號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後續開放</a:t>
            </a:r>
            <a:endParaRPr lang="en-US" sz="1400" dirty="0"/>
          </a:p>
        </p:txBody>
      </p:sp>
      <p:sp>
        <p:nvSpPr>
          <p:cNvPr id="19" name="panel-40"/>
          <p:cNvSpPr/>
          <p:nvPr/>
        </p:nvSpPr>
        <p:spPr>
          <a:xfrm>
            <a:off x="548640" y="4572000"/>
            <a:ext cx="2633472" cy="713232"/>
          </a:xfrm>
          <a:prstGeom prst="roundRect">
            <a:avLst>
              <a:gd name="adj" fmla="val 7692"/>
            </a:avLst>
          </a:prstGeom>
          <a:solidFill>
            <a:schemeClr val="accent6">
              <a:alpha val="5000"/>
            </a:schemeClr>
          </a:solidFill>
          <a:ln w="9525">
            <a:solidFill>
              <a:schemeClr val="bg2"/>
            </a:solidFill>
            <a:prstDash val="dash"/>
          </a:ln>
        </p:spPr>
      </p:sp>
      <p:sp>
        <p:nvSpPr>
          <p:cNvPr id="20" name="text-41"/>
          <p:cNvSpPr txBox="1"/>
          <p:nvPr/>
        </p:nvSpPr>
        <p:spPr>
          <a:xfrm>
            <a:off x="621792" y="4572000"/>
            <a:ext cx="2487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accent6"/>
                </a:solidFill>
              </a:rPr>
              <a:t>服務帳號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後續開放</a:t>
            </a:r>
            <a:endParaRPr lang="en-US" sz="1400" dirty="0"/>
          </a:p>
        </p:txBody>
      </p:sp>
      <p:sp>
        <p:nvSpPr>
          <p:cNvPr id="21" name="panel-42"/>
          <p:cNvSpPr/>
          <p:nvPr/>
        </p:nvSpPr>
        <p:spPr>
          <a:xfrm>
            <a:off x="3364992" y="4572000"/>
            <a:ext cx="2633472" cy="713232"/>
          </a:xfrm>
          <a:prstGeom prst="roundRect">
            <a:avLst>
              <a:gd name="adj" fmla="val 7692"/>
            </a:avLst>
          </a:prstGeom>
          <a:solidFill>
            <a:schemeClr val="accent6">
              <a:alpha val="5000"/>
            </a:schemeClr>
          </a:solidFill>
          <a:ln w="9525">
            <a:solidFill>
              <a:schemeClr val="bg2"/>
            </a:solidFill>
            <a:prstDash val="dash"/>
          </a:ln>
        </p:spPr>
      </p:sp>
      <p:sp>
        <p:nvSpPr>
          <p:cNvPr id="22" name="text-43"/>
          <p:cNvSpPr txBox="1"/>
          <p:nvPr/>
        </p:nvSpPr>
        <p:spPr>
          <a:xfrm>
            <a:off x="3438144" y="4572000"/>
            <a:ext cx="2487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accent6"/>
                </a:solidFill>
              </a:rPr>
              <a:t>網路設備帳號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後續開放</a:t>
            </a:r>
            <a:endParaRPr lang="en-US" sz="1400" dirty="0"/>
          </a:p>
        </p:txBody>
      </p:sp>
      <p:sp>
        <p:nvSpPr>
          <p:cNvPr id="23" name="panel-44"/>
          <p:cNvSpPr/>
          <p:nvPr/>
        </p:nvSpPr>
        <p:spPr>
          <a:xfrm>
            <a:off x="6181344" y="4572000"/>
            <a:ext cx="2633472" cy="713232"/>
          </a:xfrm>
          <a:prstGeom prst="roundRect">
            <a:avLst>
              <a:gd name="adj" fmla="val 7692"/>
            </a:avLst>
          </a:prstGeom>
          <a:solidFill>
            <a:schemeClr val="accent6">
              <a:alpha val="5000"/>
            </a:schemeClr>
          </a:solidFill>
          <a:ln w="9525">
            <a:solidFill>
              <a:schemeClr val="bg2"/>
            </a:solidFill>
            <a:prstDash val="dash"/>
          </a:ln>
        </p:spPr>
      </p:sp>
      <p:sp>
        <p:nvSpPr>
          <p:cNvPr id="24" name="text-45"/>
          <p:cNvSpPr txBox="1"/>
          <p:nvPr/>
        </p:nvSpPr>
        <p:spPr>
          <a:xfrm>
            <a:off x="6254496" y="4572000"/>
            <a:ext cx="2487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accent6"/>
                </a:solidFill>
              </a:rPr>
              <a:t>廠商/委外帳號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後續開放</a:t>
            </a:r>
            <a:endParaRPr lang="en-US" sz="1400" dirty="0"/>
          </a:p>
        </p:txBody>
      </p:sp>
      <p:sp>
        <p:nvSpPr>
          <p:cNvPr id="25" name="panel-46"/>
          <p:cNvSpPr/>
          <p:nvPr/>
        </p:nvSpPr>
        <p:spPr>
          <a:xfrm>
            <a:off x="8997696" y="4572000"/>
            <a:ext cx="2633472" cy="713232"/>
          </a:xfrm>
          <a:prstGeom prst="roundRect">
            <a:avLst>
              <a:gd name="adj" fmla="val 7692"/>
            </a:avLst>
          </a:prstGeom>
          <a:solidFill>
            <a:schemeClr val="accent6">
              <a:alpha val="5000"/>
            </a:schemeClr>
          </a:solidFill>
          <a:ln w="9525">
            <a:solidFill>
              <a:schemeClr val="bg2"/>
            </a:solidFill>
            <a:prstDash val="dash"/>
          </a:ln>
        </p:spPr>
      </p:sp>
      <p:sp>
        <p:nvSpPr>
          <p:cNvPr id="26" name="text-47"/>
          <p:cNvSpPr txBox="1"/>
          <p:nvPr/>
        </p:nvSpPr>
        <p:spPr>
          <a:xfrm>
            <a:off x="9070848" y="4572000"/>
            <a:ext cx="2487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accent6"/>
                </a:solidFill>
              </a:rPr>
              <a:t>憑證/金鑰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後續開放</a:t>
            </a:r>
            <a:endParaRPr lang="en-US" sz="1400" dirty="0"/>
          </a:p>
        </p:txBody>
      </p:sp>
      <p:sp>
        <p:nvSpPr>
          <p:cNvPr id="27" name="text-48"/>
          <p:cNvSpPr txBox="1"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任何類別都可標記「特權」（例如 root、sa）。特權帳號、重要資產（H01、H05、S01）與機房門禁卡，須每半年審查一次。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可申請的帳號類別</a:t>
            </a:r>
            <a:endParaRPr lang="en-US" sz="3600" dirty="0"/>
          </a:p>
        </p:txBody>
      </p:sp>
      <p:graphicFrame>
        <p:nvGraphicFramePr>
          <p:cNvPr id="5" name="table-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577840"/>
                <a:gridCol w="2057400"/>
                <a:gridCol w="135331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帳號類別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說明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執行人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開放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主機帳號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伺服器作業系統的登入帳號，例如 root、Administrator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Alex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優先開放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資料庫帳號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資料庫的連線與管理帳號，例如 sa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Terry、Michael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優先開放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機房門禁卡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機房實體門禁，分「僅測試區」與「機房完整權限」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Alex、Alan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優先開放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應用系統帳號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業務系統的登入帳號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Alex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後續開放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服務帳號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程式或排程使用的系統帳號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Alex、Alan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後續開放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網路設備帳號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交換器、路由器、防火牆的管理帳號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Alex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後續開放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廠商/委外帳號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外部廠商維護時使用的帳號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Sage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後續開放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憑證/金鑰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SSL 憑證、API 金鑰等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Alex、Alan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</a:rPr>
                        <a:t>後續開放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-50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8 種類別走同一套流程；後續開放只需調整設定，不需修改程式。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機房異動申請為什麼要全面翻寫</a:t>
            </a:r>
            <a:endParaRPr lang="en-US" sz="3600" dirty="0"/>
          </a:p>
        </p:txBody>
      </p:sp>
      <p:sp>
        <p:nvSpPr>
          <p:cNvPr id="3" name="text-51"/>
          <p:cNvSpPr txBox="1"/>
          <p:nvPr/>
        </p:nvSpPr>
        <p:spPr>
          <a:xfrm>
            <a:off x="548640" y="13258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不翻寫就無法上線</a:t>
            </a:r>
            <a:endParaRPr lang="en-US" sz="1800" dirty="0"/>
          </a:p>
        </p:txBody>
      </p:sp>
      <p:sp>
        <p:nvSpPr>
          <p:cNvPr id="4" name="panel-52"/>
          <p:cNvSpPr/>
          <p:nvPr/>
        </p:nvSpPr>
        <p:spPr>
          <a:xfrm>
            <a:off x="548640" y="1828800"/>
            <a:ext cx="3520440" cy="2048256"/>
          </a:xfrm>
          <a:prstGeom prst="roundRect">
            <a:avLst>
              <a:gd name="adj" fmla="val 2679"/>
            </a:avLst>
          </a:prstGeom>
          <a:solidFill>
            <a:schemeClr val="accent4">
              <a:alpha val="12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-53"/>
          <p:cNvSpPr txBox="1"/>
          <p:nvPr/>
        </p:nvSpPr>
        <p:spPr>
          <a:xfrm>
            <a:off x="749808" y="1901952"/>
            <a:ext cx="311810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程式語言不同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6"/>
                </a:solidFill>
              </a:rPr>
              <a:t>與新模組使用不同語言，無法放在同一套系統中一起上線</a:t>
            </a:r>
            <a:endParaRPr lang="en-US" sz="1400" dirty="0"/>
          </a:p>
        </p:txBody>
      </p:sp>
      <p:sp>
        <p:nvSpPr>
          <p:cNvPr id="6" name="panel-54"/>
          <p:cNvSpPr/>
          <p:nvPr/>
        </p:nvSpPr>
        <p:spPr>
          <a:xfrm>
            <a:off x="548640" y="4059936"/>
            <a:ext cx="3520440" cy="2048256"/>
          </a:xfrm>
          <a:prstGeom prst="roundRect">
            <a:avLst>
              <a:gd name="adj" fmla="val 2679"/>
            </a:avLst>
          </a:prstGeom>
          <a:solidFill>
            <a:schemeClr val="accent4">
              <a:alpha val="12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-55"/>
          <p:cNvSpPr txBox="1"/>
          <p:nvPr/>
        </p:nvSpPr>
        <p:spPr>
          <a:xfrm>
            <a:off x="749808" y="4133088"/>
            <a:ext cx="311810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無法共用登入頁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6"/>
                </a:solidFill>
              </a:rPr>
              <a:t>舊版不動，就無法與新模組使用同一個登入頁面</a:t>
            </a:r>
            <a:endParaRPr lang="en-US" sz="1400" dirty="0"/>
          </a:p>
        </p:txBody>
      </p:sp>
      <p:sp>
        <p:nvSpPr>
          <p:cNvPr id="8" name="text-56"/>
          <p:cNvSpPr txBox="1"/>
          <p:nvPr/>
        </p:nvSpPr>
        <p:spPr>
          <a:xfrm>
            <a:off x="4315968" y="13258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目前不符規範</a:t>
            </a:r>
            <a:endParaRPr lang="en-US" sz="1800" dirty="0"/>
          </a:p>
        </p:txBody>
      </p:sp>
      <p:sp>
        <p:nvSpPr>
          <p:cNvPr id="9" name="panel-57"/>
          <p:cNvSpPr/>
          <p:nvPr/>
        </p:nvSpPr>
        <p:spPr>
          <a:xfrm>
            <a:off x="4315968" y="1828800"/>
            <a:ext cx="3520440" cy="2048256"/>
          </a:xfrm>
          <a:prstGeom prst="roundRect">
            <a:avLst>
              <a:gd name="adj" fmla="val 2679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-58"/>
          <p:cNvSpPr txBox="1"/>
          <p:nvPr/>
        </p:nvSpPr>
        <p:spPr>
          <a:xfrm>
            <a:off x="4517136" y="1901952"/>
            <a:ext cx="311810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未使用資料庫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6"/>
                </a:solidFill>
              </a:rPr>
              <a:t>資料不在資料庫中，不符合公司系統規範</a:t>
            </a:r>
            <a:endParaRPr lang="en-US" sz="1400" dirty="0"/>
          </a:p>
        </p:txBody>
      </p:sp>
      <p:sp>
        <p:nvSpPr>
          <p:cNvPr id="11" name="panel-59"/>
          <p:cNvSpPr/>
          <p:nvPr/>
        </p:nvSpPr>
        <p:spPr>
          <a:xfrm>
            <a:off x="4315968" y="4059936"/>
            <a:ext cx="3520440" cy="2048256"/>
          </a:xfrm>
          <a:prstGeom prst="roundRect">
            <a:avLst>
              <a:gd name="adj" fmla="val 2679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-60"/>
          <p:cNvSpPr txBox="1"/>
          <p:nvPr/>
        </p:nvSpPr>
        <p:spPr>
          <a:xfrm>
            <a:off x="4517136" y="4133088"/>
            <a:ext cx="311810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帳密存放在文字檔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6"/>
                </a:solidFill>
              </a:rPr>
              <a:t>使用者帳號密碼存放在文字檔（密碼有加密），不易備份與稽核</a:t>
            </a:r>
            <a:endParaRPr lang="en-US" sz="1400" dirty="0"/>
          </a:p>
        </p:txBody>
      </p:sp>
      <p:sp>
        <p:nvSpPr>
          <p:cNvPr id="13" name="text-61"/>
          <p:cNvSpPr txBox="1"/>
          <p:nvPr/>
        </p:nvSpPr>
        <p:spPr>
          <a:xfrm>
            <a:off x="8083296" y="13258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翻寫後一併解決</a:t>
            </a:r>
            <a:endParaRPr lang="en-US" sz="1800" dirty="0"/>
          </a:p>
        </p:txBody>
      </p:sp>
      <p:sp>
        <p:nvSpPr>
          <p:cNvPr id="14" name="panel-62"/>
          <p:cNvSpPr/>
          <p:nvPr/>
        </p:nvSpPr>
        <p:spPr>
          <a:xfrm>
            <a:off x="8083296" y="1828800"/>
            <a:ext cx="3520440" cy="987552"/>
          </a:xfrm>
          <a:prstGeom prst="roundRect">
            <a:avLst>
              <a:gd name="adj" fmla="val 5556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-63"/>
          <p:cNvSpPr txBox="1"/>
          <p:nvPr/>
        </p:nvSpPr>
        <p:spPr>
          <a:xfrm>
            <a:off x="8284464" y="1901952"/>
            <a:ext cx="31181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角色權限只維護一套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6"/>
                </a:solidFill>
              </a:rPr>
              <a:t>同一批主管兩邊都要簽核，人員異動只需改一個地方</a:t>
            </a:r>
            <a:endParaRPr lang="en-US" sz="1400" dirty="0"/>
          </a:p>
        </p:txBody>
      </p:sp>
      <p:sp>
        <p:nvSpPr>
          <p:cNvPr id="16" name="panel-64"/>
          <p:cNvSpPr/>
          <p:nvPr/>
        </p:nvSpPr>
        <p:spPr>
          <a:xfrm>
            <a:off x="8083296" y="2926080"/>
            <a:ext cx="3520440" cy="987552"/>
          </a:xfrm>
          <a:prstGeom prst="roundRect">
            <a:avLst>
              <a:gd name="adj" fmla="val 5556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-65"/>
          <p:cNvSpPr txBox="1"/>
          <p:nvPr/>
        </p:nvSpPr>
        <p:spPr>
          <a:xfrm>
            <a:off x="8284464" y="2999232"/>
            <a:ext cx="31181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稽核紀錄標準一致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6"/>
                </a:solidFill>
              </a:rPr>
              <a:t>都記錄實際操作人與時間，紀錄不可修改</a:t>
            </a:r>
            <a:endParaRPr lang="en-US" sz="1400" dirty="0"/>
          </a:p>
        </p:txBody>
      </p:sp>
      <p:sp>
        <p:nvSpPr>
          <p:cNvPr id="18" name="panel-66"/>
          <p:cNvSpPr/>
          <p:nvPr/>
        </p:nvSpPr>
        <p:spPr>
          <a:xfrm>
            <a:off x="8083296" y="4023360"/>
            <a:ext cx="3520440" cy="987552"/>
          </a:xfrm>
          <a:prstGeom prst="roundRect">
            <a:avLst>
              <a:gd name="adj" fmla="val 5556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text-67"/>
          <p:cNvSpPr txBox="1"/>
          <p:nvPr/>
        </p:nvSpPr>
        <p:spPr>
          <a:xfrm>
            <a:off x="8284464" y="4096512"/>
            <a:ext cx="31181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待辦簽核合一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6"/>
                </a:solidFill>
              </a:rPr>
              <a:t>所有待簽的單集中在同一張清單</a:t>
            </a:r>
            <a:endParaRPr lang="en-US" sz="1400" dirty="0"/>
          </a:p>
        </p:txBody>
      </p:sp>
      <p:sp>
        <p:nvSpPr>
          <p:cNvPr id="20" name="panel-68"/>
          <p:cNvSpPr/>
          <p:nvPr/>
        </p:nvSpPr>
        <p:spPr>
          <a:xfrm>
            <a:off x="8083296" y="5120640"/>
            <a:ext cx="3520440" cy="987552"/>
          </a:xfrm>
          <a:prstGeom prst="roundRect">
            <a:avLst>
              <a:gd name="adj" fmla="val 5556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-69"/>
          <p:cNvSpPr txBox="1"/>
          <p:nvPr/>
        </p:nvSpPr>
        <p:spPr>
          <a:xfrm>
            <a:off x="8284464" y="5193792"/>
            <a:ext cx="31181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只維護一套技術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6"/>
                </a:solidFill>
              </a:rPr>
              <a:t>不必同時維護兩種語言、兩套架構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角色定義：9 種角色</a:t>
            </a:r>
            <a:endParaRPr lang="en-US" sz="3600" dirty="0"/>
          </a:p>
        </p:txBody>
      </p:sp>
      <p:graphicFrame>
        <p:nvGraphicFramePr>
          <p:cNvPr id="7" name="table-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486400"/>
                <a:gridCol w="35935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角色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負責事項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目前人員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一般人員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送出申請、查詢與處理自己的申請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全資訊部同仁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機房管理員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第 2 關核准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Alex、Alan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Infra 主管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第 3 關核准；（第二階段）半年審查、緊急存取核准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Terry、Wensen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資訊治理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第 4 關核准、第 7 關複驗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Molly、Cathy、Kevin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資訊主管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第 5 關核准；（第二階段）緊急存取核准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Gary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資訊治理主管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查詢角色異動紀錄；（第二階段）半年審查、緊急存取核准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Molly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帳號清冊檢視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查看完整帳號清單；（第二階段）匯出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Gary、Terry、Molly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巡檢人員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填寫巡檢、查詢紀錄、標記異常已處理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Alex、Alan、Kevin、Terry、Wensen、Gary、Molly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系統管理員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維護角色名單與執行人；突發狀況可切換身分操作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Hank（暫定）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角色設計原則</a:t>
            </a:r>
            <a:endParaRPr lang="en-US" sz="3600" dirty="0"/>
          </a:p>
        </p:txBody>
      </p:sp>
      <p:sp>
        <p:nvSpPr>
          <p:cNvPr id="3" name="panel-71"/>
          <p:cNvSpPr/>
          <p:nvPr/>
        </p:nvSpPr>
        <p:spPr>
          <a:xfrm>
            <a:off x="548640" y="1463040"/>
            <a:ext cx="5440680" cy="2148840"/>
          </a:xfrm>
          <a:prstGeom prst="roundRect">
            <a:avLst>
              <a:gd name="adj" fmla="val 2553"/>
            </a:avLst>
          </a:prstGeom>
          <a:solidFill>
            <a:schemeClr val="accent6">
              <a:alpha val="7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hip-72"/>
          <p:cNvSpPr/>
          <p:nvPr/>
        </p:nvSpPr>
        <p:spPr>
          <a:xfrm>
            <a:off x="822960" y="175564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-73"/>
          <p:cNvSpPr txBox="1"/>
          <p:nvPr/>
        </p:nvSpPr>
        <p:spPr>
          <a:xfrm>
            <a:off x="822960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-74"/>
          <p:cNvSpPr txBox="1"/>
          <p:nvPr/>
        </p:nvSpPr>
        <p:spPr>
          <a:xfrm>
            <a:off x="1463040" y="17373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角色不寫死人名</a:t>
            </a:r>
            <a:endParaRPr lang="en-US" sz="2000" dirty="0"/>
          </a:p>
        </p:txBody>
      </p:sp>
      <p:sp>
        <p:nvSpPr>
          <p:cNvPr id="7" name="text-75"/>
          <p:cNvSpPr txBox="1"/>
          <p:nvPr/>
        </p:nvSpPr>
        <p:spPr>
          <a:xfrm>
            <a:off x="822960" y="242316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accent6"/>
                </a:solidFill>
              </a:rPr>
              <a:t>系統依「角色」判斷誰能做什麼；人員異動時調整名單即可，不需修改程式。</a:t>
            </a:r>
            <a:endParaRPr lang="en-US" sz="1600" dirty="0"/>
          </a:p>
        </p:txBody>
      </p:sp>
      <p:sp>
        <p:nvSpPr>
          <p:cNvPr id="8" name="panel-76"/>
          <p:cNvSpPr/>
          <p:nvPr/>
        </p:nvSpPr>
        <p:spPr>
          <a:xfrm>
            <a:off x="6190488" y="1463040"/>
            <a:ext cx="5440680" cy="2148840"/>
          </a:xfrm>
          <a:prstGeom prst="roundRect">
            <a:avLst>
              <a:gd name="adj" fmla="val 2553"/>
            </a:avLst>
          </a:prstGeom>
          <a:solidFill>
            <a:schemeClr val="accent6">
              <a:alpha val="7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hip-77"/>
          <p:cNvSpPr/>
          <p:nvPr/>
        </p:nvSpPr>
        <p:spPr>
          <a:xfrm>
            <a:off x="6464808" y="175564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-78"/>
          <p:cNvSpPr txBox="1"/>
          <p:nvPr/>
        </p:nvSpPr>
        <p:spPr>
          <a:xfrm>
            <a:off x="6464808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-79"/>
          <p:cNvSpPr txBox="1"/>
          <p:nvPr/>
        </p:nvSpPr>
        <p:spPr>
          <a:xfrm>
            <a:off x="7104888" y="17373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一人可有多個角色</a:t>
            </a:r>
            <a:endParaRPr lang="en-US" sz="2000" dirty="0"/>
          </a:p>
        </p:txBody>
      </p:sp>
      <p:sp>
        <p:nvSpPr>
          <p:cNvPr id="12" name="text-80"/>
          <p:cNvSpPr txBox="1"/>
          <p:nvPr/>
        </p:nvSpPr>
        <p:spPr>
          <a:xfrm>
            <a:off x="6464808" y="242316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accent6"/>
                </a:solidFill>
              </a:rPr>
              <a:t>例如 Molly 同時是資訊治理、資訊治理主管、帳號清冊檢視與巡檢人員。</a:t>
            </a:r>
            <a:endParaRPr lang="en-US" sz="1600" dirty="0"/>
          </a:p>
        </p:txBody>
      </p:sp>
      <p:sp>
        <p:nvSpPr>
          <p:cNvPr id="13" name="panel-81"/>
          <p:cNvSpPr/>
          <p:nvPr/>
        </p:nvSpPr>
        <p:spPr>
          <a:xfrm>
            <a:off x="548640" y="3840480"/>
            <a:ext cx="5440680" cy="2148840"/>
          </a:xfrm>
          <a:prstGeom prst="roundRect">
            <a:avLst>
              <a:gd name="adj" fmla="val 2553"/>
            </a:avLst>
          </a:prstGeom>
          <a:solidFill>
            <a:schemeClr val="accent6">
              <a:alpha val="7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hip-82"/>
          <p:cNvSpPr/>
          <p:nvPr/>
        </p:nvSpPr>
        <p:spPr>
          <a:xfrm>
            <a:off x="822960" y="413308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-83"/>
          <p:cNvSpPr txBox="1"/>
          <p:nvPr/>
        </p:nvSpPr>
        <p:spPr>
          <a:xfrm>
            <a:off x="82296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-84"/>
          <p:cNvSpPr txBox="1"/>
          <p:nvPr/>
        </p:nvSpPr>
        <p:spPr>
          <a:xfrm>
            <a:off x="1463040" y="41148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角色異動有紀錄</a:t>
            </a:r>
            <a:endParaRPr lang="en-US" sz="2000" dirty="0"/>
          </a:p>
        </p:txBody>
      </p:sp>
      <p:sp>
        <p:nvSpPr>
          <p:cNvPr id="17" name="text-85"/>
          <p:cNvSpPr txBox="1"/>
          <p:nvPr/>
        </p:nvSpPr>
        <p:spPr>
          <a:xfrm>
            <a:off x="822960" y="480060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accent6"/>
                </a:solidFill>
              </a:rPr>
              <a:t>誰在何時把誰加入或移出哪個角色、原因為何，資訊治理主管可以查詢。</a:t>
            </a:r>
            <a:endParaRPr lang="en-US" sz="1600" dirty="0"/>
          </a:p>
        </p:txBody>
      </p:sp>
      <p:sp>
        <p:nvSpPr>
          <p:cNvPr id="18" name="panel-86"/>
          <p:cNvSpPr/>
          <p:nvPr/>
        </p:nvSpPr>
        <p:spPr>
          <a:xfrm>
            <a:off x="6190488" y="3840480"/>
            <a:ext cx="5440680" cy="2148840"/>
          </a:xfrm>
          <a:prstGeom prst="roundRect">
            <a:avLst>
              <a:gd name="adj" fmla="val 2553"/>
            </a:avLst>
          </a:prstGeom>
          <a:solidFill>
            <a:schemeClr val="accent6">
              <a:alpha val="7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chip-87"/>
          <p:cNvSpPr/>
          <p:nvPr/>
        </p:nvSpPr>
        <p:spPr>
          <a:xfrm>
            <a:off x="6464808" y="413308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-88"/>
          <p:cNvSpPr txBox="1"/>
          <p:nvPr/>
        </p:nvSpPr>
        <p:spPr>
          <a:xfrm>
            <a:off x="6464808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-89"/>
          <p:cNvSpPr txBox="1"/>
          <p:nvPr/>
        </p:nvSpPr>
        <p:spPr>
          <a:xfrm>
            <a:off x="7104888" y="41148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有些權限只開給特定幾位</a:t>
            </a:r>
            <a:endParaRPr lang="en-US" sz="2000" dirty="0"/>
          </a:p>
        </p:txBody>
      </p:sp>
      <p:sp>
        <p:nvSpPr>
          <p:cNvPr id="22" name="text-90"/>
          <p:cNvSpPr txBox="1"/>
          <p:nvPr/>
        </p:nvSpPr>
        <p:spPr>
          <a:xfrm>
            <a:off x="6464808" y="480060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accent6"/>
                </a:solidFill>
              </a:rPr>
              <a:t>例如完整帳號清單只開給 Gary、Terry、Molly，與職位不完全對應，所以獨立成角色。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帳號申請：7 關流程</a:t>
            </a:r>
            <a:endParaRPr lang="en-US" sz="3600" dirty="0"/>
          </a:p>
        </p:txBody>
      </p:sp>
      <p:sp>
        <p:nvSpPr>
          <p:cNvPr id="3" name="panel-91"/>
          <p:cNvSpPr/>
          <p:nvPr/>
        </p:nvSpPr>
        <p:spPr>
          <a:xfrm>
            <a:off x="603504" y="1417320"/>
            <a:ext cx="2423160" cy="1188720"/>
          </a:xfrm>
          <a:prstGeom prst="roundRect">
            <a:avLst>
              <a:gd name="adj" fmla="val 4615"/>
            </a:avLst>
          </a:prstGeom>
          <a:solidFill>
            <a:schemeClr val="accent6">
              <a:alpha val="7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hip-92"/>
          <p:cNvSpPr/>
          <p:nvPr/>
        </p:nvSpPr>
        <p:spPr>
          <a:xfrm>
            <a:off x="713232" y="152704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-93"/>
          <p:cNvSpPr txBox="1"/>
          <p:nvPr/>
        </p:nvSpPr>
        <p:spPr>
          <a:xfrm>
            <a:off x="713232" y="1527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-94"/>
          <p:cNvSpPr txBox="1"/>
          <p:nvPr/>
        </p:nvSpPr>
        <p:spPr>
          <a:xfrm>
            <a:off x="694944" y="156362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申請人</a:t>
            </a:r>
            <a:endParaRPr lang="en-US" sz="1800" dirty="0"/>
          </a:p>
        </p:txBody>
      </p:sp>
      <p:pic>
        <p:nvPicPr>
          <p:cNvPr id="7" name="icon-95" descr="file-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9436" y="2112264"/>
            <a:ext cx="237744" cy="237744"/>
          </a:xfrm>
          <a:prstGeom prst="rect">
            <a:avLst/>
          </a:prstGeom>
        </p:spPr>
      </p:pic>
      <p:sp>
        <p:nvSpPr>
          <p:cNvPr id="8" name="text-96"/>
          <p:cNvSpPr txBox="1"/>
          <p:nvPr/>
        </p:nvSpPr>
        <p:spPr>
          <a:xfrm>
            <a:off x="1622044" y="2075688"/>
            <a:ext cx="971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填申請表</a:t>
            </a:r>
            <a:endParaRPr lang="en-US" sz="1300" dirty="0"/>
          </a:p>
        </p:txBody>
      </p:sp>
      <p:sp>
        <p:nvSpPr>
          <p:cNvPr id="9" name="panel-97"/>
          <p:cNvSpPr/>
          <p:nvPr/>
        </p:nvSpPr>
        <p:spPr>
          <a:xfrm>
            <a:off x="3483864" y="1417320"/>
            <a:ext cx="2423160" cy="1188720"/>
          </a:xfrm>
          <a:prstGeom prst="roundRect">
            <a:avLst>
              <a:gd name="adj" fmla="val 4615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chip-98"/>
          <p:cNvSpPr/>
          <p:nvPr/>
        </p:nvSpPr>
        <p:spPr>
          <a:xfrm>
            <a:off x="3593592" y="152704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-99"/>
          <p:cNvSpPr txBox="1"/>
          <p:nvPr/>
        </p:nvSpPr>
        <p:spPr>
          <a:xfrm>
            <a:off x="3593592" y="1527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-100"/>
          <p:cNvSpPr txBox="1"/>
          <p:nvPr/>
        </p:nvSpPr>
        <p:spPr>
          <a:xfrm>
            <a:off x="3575304" y="156362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機房管理員</a:t>
            </a:r>
            <a:endParaRPr lang="en-US" sz="1800" dirty="0"/>
          </a:p>
        </p:txBody>
      </p:sp>
      <p:pic>
        <p:nvPicPr>
          <p:cNvPr id="13" name="icon-101" descr="check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7246" y="2112264"/>
            <a:ext cx="237744" cy="237744"/>
          </a:xfrm>
          <a:prstGeom prst="rect">
            <a:avLst/>
          </a:prstGeom>
        </p:spPr>
      </p:pic>
      <p:sp>
        <p:nvSpPr>
          <p:cNvPr id="14" name="text-102"/>
          <p:cNvSpPr txBox="1"/>
          <p:nvPr/>
        </p:nvSpPr>
        <p:spPr>
          <a:xfrm>
            <a:off x="4419854" y="2075688"/>
            <a:ext cx="1136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核准／退件</a:t>
            </a:r>
            <a:endParaRPr lang="en-US" sz="1300" dirty="0"/>
          </a:p>
        </p:txBody>
      </p:sp>
      <p:sp>
        <p:nvSpPr>
          <p:cNvPr id="15" name="line-103"/>
          <p:cNvSpPr/>
          <p:nvPr/>
        </p:nvSpPr>
        <p:spPr>
          <a:xfrm>
            <a:off x="3081528" y="2011680"/>
            <a:ext cx="347472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6" name="panel-104"/>
          <p:cNvSpPr/>
          <p:nvPr/>
        </p:nvSpPr>
        <p:spPr>
          <a:xfrm>
            <a:off x="6364224" y="1417320"/>
            <a:ext cx="2423160" cy="1188720"/>
          </a:xfrm>
          <a:prstGeom prst="roundRect">
            <a:avLst>
              <a:gd name="adj" fmla="val 4615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chip-105"/>
          <p:cNvSpPr/>
          <p:nvPr/>
        </p:nvSpPr>
        <p:spPr>
          <a:xfrm>
            <a:off x="6473952" y="152704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-106"/>
          <p:cNvSpPr txBox="1"/>
          <p:nvPr/>
        </p:nvSpPr>
        <p:spPr>
          <a:xfrm>
            <a:off x="6473952" y="1527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-107"/>
          <p:cNvSpPr txBox="1"/>
          <p:nvPr/>
        </p:nvSpPr>
        <p:spPr>
          <a:xfrm>
            <a:off x="6455664" y="156362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Infra 主管</a:t>
            </a:r>
            <a:endParaRPr lang="en-US" sz="1800" dirty="0"/>
          </a:p>
        </p:txBody>
      </p:sp>
      <p:pic>
        <p:nvPicPr>
          <p:cNvPr id="20" name="icon-108" descr="check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7606" y="2112264"/>
            <a:ext cx="237744" cy="237744"/>
          </a:xfrm>
          <a:prstGeom prst="rect">
            <a:avLst/>
          </a:prstGeom>
        </p:spPr>
      </p:pic>
      <p:sp>
        <p:nvSpPr>
          <p:cNvPr id="21" name="text-109"/>
          <p:cNvSpPr txBox="1"/>
          <p:nvPr/>
        </p:nvSpPr>
        <p:spPr>
          <a:xfrm>
            <a:off x="7300214" y="2075688"/>
            <a:ext cx="1136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核准／退件</a:t>
            </a:r>
            <a:endParaRPr lang="en-US" sz="1300" dirty="0"/>
          </a:p>
        </p:txBody>
      </p:sp>
      <p:sp>
        <p:nvSpPr>
          <p:cNvPr id="22" name="line-110"/>
          <p:cNvSpPr/>
          <p:nvPr/>
        </p:nvSpPr>
        <p:spPr>
          <a:xfrm>
            <a:off x="5961888" y="2011680"/>
            <a:ext cx="347472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3" name="panel-111"/>
          <p:cNvSpPr/>
          <p:nvPr/>
        </p:nvSpPr>
        <p:spPr>
          <a:xfrm>
            <a:off x="9244584" y="1417320"/>
            <a:ext cx="2423160" cy="1188720"/>
          </a:xfrm>
          <a:prstGeom prst="roundRect">
            <a:avLst>
              <a:gd name="adj" fmla="val 4615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chip-112"/>
          <p:cNvSpPr/>
          <p:nvPr/>
        </p:nvSpPr>
        <p:spPr>
          <a:xfrm>
            <a:off x="9354312" y="152704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-113"/>
          <p:cNvSpPr txBox="1"/>
          <p:nvPr/>
        </p:nvSpPr>
        <p:spPr>
          <a:xfrm>
            <a:off x="9354312" y="1527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text-114"/>
          <p:cNvSpPr txBox="1"/>
          <p:nvPr/>
        </p:nvSpPr>
        <p:spPr>
          <a:xfrm>
            <a:off x="9336024" y="156362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資訊治理</a:t>
            </a:r>
            <a:endParaRPr lang="en-US" sz="1800" dirty="0"/>
          </a:p>
        </p:txBody>
      </p:sp>
      <p:pic>
        <p:nvPicPr>
          <p:cNvPr id="27" name="icon-115" descr="check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7966" y="2112264"/>
            <a:ext cx="237744" cy="237744"/>
          </a:xfrm>
          <a:prstGeom prst="rect">
            <a:avLst/>
          </a:prstGeom>
        </p:spPr>
      </p:pic>
      <p:sp>
        <p:nvSpPr>
          <p:cNvPr id="28" name="text-116"/>
          <p:cNvSpPr txBox="1"/>
          <p:nvPr/>
        </p:nvSpPr>
        <p:spPr>
          <a:xfrm>
            <a:off x="10180574" y="2075688"/>
            <a:ext cx="1136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核准／退件</a:t>
            </a:r>
            <a:endParaRPr lang="en-US" sz="1300" dirty="0"/>
          </a:p>
        </p:txBody>
      </p:sp>
      <p:sp>
        <p:nvSpPr>
          <p:cNvPr id="29" name="line-117"/>
          <p:cNvSpPr/>
          <p:nvPr/>
        </p:nvSpPr>
        <p:spPr>
          <a:xfrm>
            <a:off x="8842248" y="2011680"/>
            <a:ext cx="347472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0" name="panel-118"/>
          <p:cNvSpPr/>
          <p:nvPr/>
        </p:nvSpPr>
        <p:spPr>
          <a:xfrm>
            <a:off x="603504" y="3017520"/>
            <a:ext cx="2423160" cy="1188720"/>
          </a:xfrm>
          <a:prstGeom prst="roundRect">
            <a:avLst>
              <a:gd name="adj" fmla="val 4615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chip-119"/>
          <p:cNvSpPr/>
          <p:nvPr/>
        </p:nvSpPr>
        <p:spPr>
          <a:xfrm>
            <a:off x="713232" y="312724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-120"/>
          <p:cNvSpPr txBox="1"/>
          <p:nvPr/>
        </p:nvSpPr>
        <p:spPr>
          <a:xfrm>
            <a:off x="713232" y="3127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33" name="text-121"/>
          <p:cNvSpPr txBox="1"/>
          <p:nvPr/>
        </p:nvSpPr>
        <p:spPr>
          <a:xfrm>
            <a:off x="694944" y="316382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資訊主管</a:t>
            </a:r>
            <a:endParaRPr lang="en-US" sz="1800" dirty="0"/>
          </a:p>
        </p:txBody>
      </p:sp>
      <p:pic>
        <p:nvPicPr>
          <p:cNvPr id="34" name="icon-122" descr="check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6886" y="3712464"/>
            <a:ext cx="237744" cy="237744"/>
          </a:xfrm>
          <a:prstGeom prst="rect">
            <a:avLst/>
          </a:prstGeom>
        </p:spPr>
      </p:pic>
      <p:sp>
        <p:nvSpPr>
          <p:cNvPr id="35" name="text-123"/>
          <p:cNvSpPr txBox="1"/>
          <p:nvPr/>
        </p:nvSpPr>
        <p:spPr>
          <a:xfrm>
            <a:off x="1539494" y="3675888"/>
            <a:ext cx="1136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核准／退件</a:t>
            </a:r>
            <a:endParaRPr lang="en-US" sz="1300" dirty="0"/>
          </a:p>
        </p:txBody>
      </p:sp>
      <p:sp>
        <p:nvSpPr>
          <p:cNvPr id="36" name="panel-124"/>
          <p:cNvSpPr/>
          <p:nvPr/>
        </p:nvSpPr>
        <p:spPr>
          <a:xfrm>
            <a:off x="3483864" y="3017520"/>
            <a:ext cx="2423160" cy="1188720"/>
          </a:xfrm>
          <a:prstGeom prst="roundRect">
            <a:avLst>
              <a:gd name="adj" fmla="val 4615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7" name="chip-125"/>
          <p:cNvSpPr/>
          <p:nvPr/>
        </p:nvSpPr>
        <p:spPr>
          <a:xfrm>
            <a:off x="3593592" y="3127248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8" name="text-126"/>
          <p:cNvSpPr txBox="1"/>
          <p:nvPr/>
        </p:nvSpPr>
        <p:spPr>
          <a:xfrm>
            <a:off x="3593592" y="3127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9" name="text-127"/>
          <p:cNvSpPr txBox="1"/>
          <p:nvPr/>
        </p:nvSpPr>
        <p:spPr>
          <a:xfrm>
            <a:off x="3575304" y="316382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執行人</a:t>
            </a:r>
            <a:endParaRPr lang="en-US" sz="1800" dirty="0"/>
          </a:p>
        </p:txBody>
      </p:sp>
      <p:pic>
        <p:nvPicPr>
          <p:cNvPr id="40" name="icon-128" descr="upload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7046" y="3712464"/>
            <a:ext cx="237744" cy="237744"/>
          </a:xfrm>
          <a:prstGeom prst="rect">
            <a:avLst/>
          </a:prstGeom>
        </p:spPr>
      </p:pic>
      <p:sp>
        <p:nvSpPr>
          <p:cNvPr id="41" name="text-129"/>
          <p:cNvSpPr txBox="1"/>
          <p:nvPr/>
        </p:nvSpPr>
        <p:spPr>
          <a:xfrm>
            <a:off x="4089654" y="3675888"/>
            <a:ext cx="1796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建立帳號＋上傳佐證</a:t>
            </a:r>
            <a:endParaRPr lang="en-US" sz="1300" dirty="0"/>
          </a:p>
        </p:txBody>
      </p:sp>
      <p:sp>
        <p:nvSpPr>
          <p:cNvPr id="42" name="text-130"/>
          <p:cNvSpPr txBox="1"/>
          <p:nvPr/>
        </p:nvSpPr>
        <p:spPr>
          <a:xfrm>
            <a:off x="3575304" y="395020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帳號此時生效</a:t>
            </a:r>
            <a:endParaRPr lang="en-US" sz="1100" dirty="0"/>
          </a:p>
        </p:txBody>
      </p:sp>
      <p:sp>
        <p:nvSpPr>
          <p:cNvPr id="43" name="line-131"/>
          <p:cNvSpPr/>
          <p:nvPr/>
        </p:nvSpPr>
        <p:spPr>
          <a:xfrm>
            <a:off x="3081528" y="3611880"/>
            <a:ext cx="347472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44" name="panel-132"/>
          <p:cNvSpPr/>
          <p:nvPr/>
        </p:nvSpPr>
        <p:spPr>
          <a:xfrm>
            <a:off x="6364224" y="3017520"/>
            <a:ext cx="2423160" cy="1188720"/>
          </a:xfrm>
          <a:prstGeom prst="roundRect">
            <a:avLst>
              <a:gd name="adj" fmla="val 4615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5" name="chip-133"/>
          <p:cNvSpPr/>
          <p:nvPr/>
        </p:nvSpPr>
        <p:spPr>
          <a:xfrm>
            <a:off x="6473952" y="312724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6" name="text-134"/>
          <p:cNvSpPr txBox="1"/>
          <p:nvPr/>
        </p:nvSpPr>
        <p:spPr>
          <a:xfrm>
            <a:off x="6473952" y="3127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47" name="text-135"/>
          <p:cNvSpPr txBox="1"/>
          <p:nvPr/>
        </p:nvSpPr>
        <p:spPr>
          <a:xfrm>
            <a:off x="6455664" y="316382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資訊治理</a:t>
            </a:r>
            <a:endParaRPr lang="en-US" sz="1800" dirty="0"/>
          </a:p>
        </p:txBody>
      </p:sp>
      <p:pic>
        <p:nvPicPr>
          <p:cNvPr id="48" name="icon-136" descr="shield-che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2506" y="3712464"/>
            <a:ext cx="237744" cy="237744"/>
          </a:xfrm>
          <a:prstGeom prst="rect">
            <a:avLst/>
          </a:prstGeom>
        </p:spPr>
      </p:pic>
      <p:sp>
        <p:nvSpPr>
          <p:cNvPr id="49" name="text-137"/>
          <p:cNvSpPr txBox="1"/>
          <p:nvPr/>
        </p:nvSpPr>
        <p:spPr>
          <a:xfrm>
            <a:off x="7135114" y="3675888"/>
            <a:ext cx="14665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複驗通過／退回</a:t>
            </a:r>
            <a:endParaRPr lang="en-US" sz="1300" dirty="0"/>
          </a:p>
        </p:txBody>
      </p:sp>
      <p:sp>
        <p:nvSpPr>
          <p:cNvPr id="50" name="line-138"/>
          <p:cNvSpPr/>
          <p:nvPr/>
        </p:nvSpPr>
        <p:spPr>
          <a:xfrm>
            <a:off x="5961888" y="3611880"/>
            <a:ext cx="347472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51" name="panel-139"/>
          <p:cNvSpPr/>
          <p:nvPr/>
        </p:nvSpPr>
        <p:spPr>
          <a:xfrm>
            <a:off x="9244584" y="3017520"/>
            <a:ext cx="2423160" cy="1188720"/>
          </a:xfrm>
          <a:prstGeom prst="roundRect">
            <a:avLst>
              <a:gd name="adj" fmla="val 4615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2" name="text-140"/>
          <p:cNvSpPr txBox="1"/>
          <p:nvPr/>
        </p:nvSpPr>
        <p:spPr>
          <a:xfrm>
            <a:off x="9336024" y="316382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交付使用者</a:t>
            </a:r>
            <a:endParaRPr lang="en-US" sz="1800" dirty="0"/>
          </a:p>
        </p:txBody>
      </p:sp>
      <p:pic>
        <p:nvPicPr>
          <p:cNvPr id="53" name="icon-141" descr="user-check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87966" y="3712464"/>
            <a:ext cx="237744" cy="237744"/>
          </a:xfrm>
          <a:prstGeom prst="rect">
            <a:avLst/>
          </a:prstGeom>
        </p:spPr>
      </p:pic>
      <p:sp>
        <p:nvSpPr>
          <p:cNvPr id="54" name="text-142"/>
          <p:cNvSpPr txBox="1"/>
          <p:nvPr/>
        </p:nvSpPr>
        <p:spPr>
          <a:xfrm>
            <a:off x="10180574" y="3675888"/>
            <a:ext cx="11363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系統外作業</a:t>
            </a:r>
            <a:endParaRPr lang="en-US" sz="1300" dirty="0"/>
          </a:p>
        </p:txBody>
      </p:sp>
      <p:sp>
        <p:nvSpPr>
          <p:cNvPr id="55" name="line-143"/>
          <p:cNvSpPr/>
          <p:nvPr/>
        </p:nvSpPr>
        <p:spPr>
          <a:xfrm>
            <a:off x="8842248" y="3611880"/>
            <a:ext cx="347472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56" name="line-144"/>
          <p:cNvSpPr/>
          <p:nvPr/>
        </p:nvSpPr>
        <p:spPr>
          <a:xfrm>
            <a:off x="10456164" y="2633472"/>
            <a:ext cx="0" cy="178308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57" name="line-145"/>
          <p:cNvSpPr/>
          <p:nvPr/>
        </p:nvSpPr>
        <p:spPr>
          <a:xfrm>
            <a:off x="1815084" y="2811780"/>
            <a:ext cx="864108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58" name="line-146"/>
          <p:cNvSpPr/>
          <p:nvPr/>
        </p:nvSpPr>
        <p:spPr>
          <a:xfrm>
            <a:off x="1815084" y="2811780"/>
            <a:ext cx="0" cy="178308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59" name="panel-147"/>
          <p:cNvSpPr/>
          <p:nvPr/>
        </p:nvSpPr>
        <p:spPr>
          <a:xfrm>
            <a:off x="548640" y="4526280"/>
            <a:ext cx="3520440" cy="1600200"/>
          </a:xfrm>
          <a:prstGeom prst="roundRect">
            <a:avLst>
              <a:gd name="adj" fmla="val 3429"/>
            </a:avLst>
          </a:prstGeom>
          <a:solidFill>
            <a:schemeClr val="accent4">
              <a:alpha val="12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0" name="text-148"/>
          <p:cNvSpPr txBox="1"/>
          <p:nvPr/>
        </p:nvSpPr>
        <p:spPr>
          <a:xfrm>
            <a:off x="749808" y="4599432"/>
            <a:ext cx="31181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4"/>
                </a:solidFill>
              </a:rPr>
              <a:t>退件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第 2～5 關任一關可退件，須填原因；只有原申請人能修改重送，回到第 1 關重新開始。</a:t>
            </a:r>
            <a:endParaRPr lang="en-US" sz="1400" dirty="0"/>
          </a:p>
        </p:txBody>
      </p:sp>
      <p:sp>
        <p:nvSpPr>
          <p:cNvPr id="61" name="panel-149"/>
          <p:cNvSpPr/>
          <p:nvPr/>
        </p:nvSpPr>
        <p:spPr>
          <a:xfrm>
            <a:off x="4315968" y="4526280"/>
            <a:ext cx="3520440" cy="1600200"/>
          </a:xfrm>
          <a:prstGeom prst="roundRect">
            <a:avLst>
              <a:gd name="adj" fmla="val 3429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2" name="text-150"/>
          <p:cNvSpPr txBox="1"/>
          <p:nvPr/>
        </p:nvSpPr>
        <p:spPr>
          <a:xfrm>
            <a:off x="4517136" y="4599432"/>
            <a:ext cx="31181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複驗不通過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須填原因。帳號已建立但暫不交付，退回執行人修正後再複驗。</a:t>
            </a:r>
            <a:endParaRPr lang="en-US" sz="1400" dirty="0"/>
          </a:p>
        </p:txBody>
      </p:sp>
      <p:sp>
        <p:nvSpPr>
          <p:cNvPr id="63" name="panel-151"/>
          <p:cNvSpPr/>
          <p:nvPr/>
        </p:nvSpPr>
        <p:spPr>
          <a:xfrm>
            <a:off x="8083296" y="4526280"/>
            <a:ext cx="3520440" cy="1600200"/>
          </a:xfrm>
          <a:prstGeom prst="roundRect">
            <a:avLst>
              <a:gd name="adj" fmla="val 3429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4" name="text-152"/>
          <p:cNvSpPr txBox="1"/>
          <p:nvPr/>
        </p:nvSpPr>
        <p:spPr>
          <a:xfrm>
            <a:off x="8284464" y="4599432"/>
            <a:ext cx="31181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交付在系統外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複驗通過後的交付在系統外進行，系統不經手帳號密碼。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申請表要填什麼</a:t>
            </a:r>
            <a:endParaRPr lang="en-US" sz="3600" dirty="0"/>
          </a:p>
        </p:txBody>
      </p:sp>
      <p:sp>
        <p:nvSpPr>
          <p:cNvPr id="3" name="panel-153"/>
          <p:cNvSpPr/>
          <p:nvPr/>
        </p:nvSpPr>
        <p:spPr>
          <a:xfrm>
            <a:off x="548640" y="1371600"/>
            <a:ext cx="5440680" cy="1828800"/>
          </a:xfrm>
          <a:prstGeom prst="roundRect">
            <a:avLst>
              <a:gd name="adj" fmla="val 3000"/>
            </a:avLst>
          </a:prstGeom>
          <a:solidFill>
            <a:schemeClr val="accent6">
              <a:alpha val="7000"/>
            </a:schemeClr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icon-154" descr="serv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420624" cy="420624"/>
          </a:xfrm>
          <a:prstGeom prst="rect">
            <a:avLst/>
          </a:prstGeom>
        </p:spPr>
      </p:pic>
      <p:sp>
        <p:nvSpPr>
          <p:cNvPr id="5" name="text-155"/>
          <p:cNvSpPr txBox="1"/>
          <p:nvPr/>
        </p:nvSpPr>
        <p:spPr>
          <a:xfrm>
            <a:off x="1417320" y="1618488"/>
            <a:ext cx="4343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帳號資訊</a:t>
            </a:r>
            <a:endParaRPr lang="en-US" sz="2000" dirty="0"/>
          </a:p>
        </p:txBody>
      </p:sp>
      <p:sp>
        <p:nvSpPr>
          <p:cNvPr id="6" name="chip-156"/>
          <p:cNvSpPr/>
          <p:nvPr/>
        </p:nvSpPr>
        <p:spPr>
          <a:xfrm>
            <a:off x="822960" y="2331720"/>
            <a:ext cx="1003808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-157"/>
          <p:cNvSpPr txBox="1"/>
          <p:nvPr/>
        </p:nvSpPr>
        <p:spPr>
          <a:xfrm>
            <a:off x="822960" y="2331720"/>
            <a:ext cx="1003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帳號類別</a:t>
            </a:r>
            <a:endParaRPr lang="en-US" sz="1400" dirty="0"/>
          </a:p>
        </p:txBody>
      </p:sp>
      <p:sp>
        <p:nvSpPr>
          <p:cNvPr id="8" name="chip-158"/>
          <p:cNvSpPr/>
          <p:nvPr/>
        </p:nvSpPr>
        <p:spPr>
          <a:xfrm>
            <a:off x="1936496" y="2331720"/>
            <a:ext cx="1003808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-159"/>
          <p:cNvSpPr txBox="1"/>
          <p:nvPr/>
        </p:nvSpPr>
        <p:spPr>
          <a:xfrm>
            <a:off x="1936496" y="2331720"/>
            <a:ext cx="1003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帳號名稱</a:t>
            </a:r>
            <a:endParaRPr lang="en-US" sz="1400" dirty="0"/>
          </a:p>
        </p:txBody>
      </p:sp>
      <p:sp>
        <p:nvSpPr>
          <p:cNvPr id="10" name="chip-160"/>
          <p:cNvSpPr/>
          <p:nvPr/>
        </p:nvSpPr>
        <p:spPr>
          <a:xfrm>
            <a:off x="3050032" y="2331720"/>
            <a:ext cx="1457198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-161"/>
          <p:cNvSpPr txBox="1"/>
          <p:nvPr/>
        </p:nvSpPr>
        <p:spPr>
          <a:xfrm>
            <a:off x="3050032" y="2331720"/>
            <a:ext cx="14571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所屬系統/設備</a:t>
            </a:r>
            <a:endParaRPr lang="en-US" sz="1400" dirty="0"/>
          </a:p>
        </p:txBody>
      </p:sp>
      <p:sp>
        <p:nvSpPr>
          <p:cNvPr id="12" name="panel-162"/>
          <p:cNvSpPr/>
          <p:nvPr/>
        </p:nvSpPr>
        <p:spPr>
          <a:xfrm>
            <a:off x="6190488" y="1371600"/>
            <a:ext cx="5440680" cy="1828800"/>
          </a:xfrm>
          <a:prstGeom prst="roundRect">
            <a:avLst>
              <a:gd name="adj" fmla="val 3000"/>
            </a:avLst>
          </a:prstGeom>
          <a:solidFill>
            <a:schemeClr val="accent6">
              <a:alpha val="7000"/>
            </a:schemeClr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icon-163" descr="us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808" y="1645920"/>
            <a:ext cx="420624" cy="420624"/>
          </a:xfrm>
          <a:prstGeom prst="rect">
            <a:avLst/>
          </a:prstGeom>
        </p:spPr>
      </p:pic>
      <p:sp>
        <p:nvSpPr>
          <p:cNvPr id="14" name="text-164"/>
          <p:cNvSpPr txBox="1"/>
          <p:nvPr/>
        </p:nvSpPr>
        <p:spPr>
          <a:xfrm>
            <a:off x="7059168" y="1618488"/>
            <a:ext cx="4343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使用人</a:t>
            </a:r>
            <a:endParaRPr lang="en-US" sz="2000" dirty="0"/>
          </a:p>
        </p:txBody>
      </p:sp>
      <p:sp>
        <p:nvSpPr>
          <p:cNvPr id="15" name="chip-165"/>
          <p:cNvSpPr/>
          <p:nvPr/>
        </p:nvSpPr>
        <p:spPr>
          <a:xfrm>
            <a:off x="6464808" y="2331720"/>
            <a:ext cx="1457198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-166"/>
          <p:cNvSpPr txBox="1"/>
          <p:nvPr/>
        </p:nvSpPr>
        <p:spPr>
          <a:xfrm>
            <a:off x="6464808" y="2331720"/>
            <a:ext cx="14571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使用人/保管人</a:t>
            </a:r>
            <a:endParaRPr lang="en-US" sz="1400" dirty="0"/>
          </a:p>
        </p:txBody>
      </p:sp>
      <p:sp>
        <p:nvSpPr>
          <p:cNvPr id="17" name="chip-167"/>
          <p:cNvSpPr/>
          <p:nvPr/>
        </p:nvSpPr>
        <p:spPr>
          <a:xfrm>
            <a:off x="8031734" y="2331720"/>
            <a:ext cx="1003808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-168"/>
          <p:cNvSpPr txBox="1"/>
          <p:nvPr/>
        </p:nvSpPr>
        <p:spPr>
          <a:xfrm>
            <a:off x="8031734" y="2331720"/>
            <a:ext cx="1003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所屬單位</a:t>
            </a:r>
            <a:endParaRPr lang="en-US" sz="1400" dirty="0"/>
          </a:p>
        </p:txBody>
      </p:sp>
      <p:sp>
        <p:nvSpPr>
          <p:cNvPr id="19" name="chip-169"/>
          <p:cNvSpPr/>
          <p:nvPr/>
        </p:nvSpPr>
        <p:spPr>
          <a:xfrm>
            <a:off x="9145270" y="2331720"/>
            <a:ext cx="1003808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-170"/>
          <p:cNvSpPr txBox="1"/>
          <p:nvPr/>
        </p:nvSpPr>
        <p:spPr>
          <a:xfrm>
            <a:off x="9145270" y="2331720"/>
            <a:ext cx="1003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聯絡方式</a:t>
            </a:r>
            <a:endParaRPr lang="en-US" sz="1400" dirty="0"/>
          </a:p>
        </p:txBody>
      </p:sp>
      <p:sp>
        <p:nvSpPr>
          <p:cNvPr id="21" name="panel-171"/>
          <p:cNvSpPr/>
          <p:nvPr/>
        </p:nvSpPr>
        <p:spPr>
          <a:xfrm>
            <a:off x="548640" y="3383280"/>
            <a:ext cx="5440680" cy="1828800"/>
          </a:xfrm>
          <a:prstGeom prst="roundRect">
            <a:avLst>
              <a:gd name="adj" fmla="val 3000"/>
            </a:avLst>
          </a:prstGeom>
          <a:solidFill>
            <a:schemeClr val="accent6">
              <a:alpha val="7000"/>
            </a:schemeClr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2" name="icon-172" descr="shield-lo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657600"/>
            <a:ext cx="420624" cy="420624"/>
          </a:xfrm>
          <a:prstGeom prst="rect">
            <a:avLst/>
          </a:prstGeom>
        </p:spPr>
      </p:pic>
      <p:sp>
        <p:nvSpPr>
          <p:cNvPr id="23" name="text-173"/>
          <p:cNvSpPr txBox="1"/>
          <p:nvPr/>
        </p:nvSpPr>
        <p:spPr>
          <a:xfrm>
            <a:off x="1417320" y="3630168"/>
            <a:ext cx="4343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權限</a:t>
            </a:r>
            <a:endParaRPr lang="en-US" sz="2000" dirty="0"/>
          </a:p>
        </p:txBody>
      </p:sp>
      <p:sp>
        <p:nvSpPr>
          <p:cNvPr id="24" name="chip-174"/>
          <p:cNvSpPr/>
          <p:nvPr/>
        </p:nvSpPr>
        <p:spPr>
          <a:xfrm>
            <a:off x="822960" y="4343400"/>
            <a:ext cx="1003808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-175"/>
          <p:cNvSpPr txBox="1"/>
          <p:nvPr/>
        </p:nvSpPr>
        <p:spPr>
          <a:xfrm>
            <a:off x="822960" y="4343400"/>
            <a:ext cx="1003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權限範圍</a:t>
            </a:r>
            <a:endParaRPr lang="en-US" sz="1400" dirty="0"/>
          </a:p>
        </p:txBody>
      </p:sp>
      <p:sp>
        <p:nvSpPr>
          <p:cNvPr id="26" name="chip-176"/>
          <p:cNvSpPr/>
          <p:nvPr/>
        </p:nvSpPr>
        <p:spPr>
          <a:xfrm>
            <a:off x="1936496" y="4343400"/>
            <a:ext cx="1003808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-177"/>
          <p:cNvSpPr txBox="1"/>
          <p:nvPr/>
        </p:nvSpPr>
        <p:spPr>
          <a:xfrm>
            <a:off x="1936496" y="4343400"/>
            <a:ext cx="1003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存取對象</a:t>
            </a:r>
            <a:endParaRPr lang="en-US" sz="1400" dirty="0"/>
          </a:p>
        </p:txBody>
      </p:sp>
      <p:sp>
        <p:nvSpPr>
          <p:cNvPr id="28" name="chip-178"/>
          <p:cNvSpPr/>
          <p:nvPr/>
        </p:nvSpPr>
        <p:spPr>
          <a:xfrm>
            <a:off x="3050032" y="4343400"/>
            <a:ext cx="1181608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-179"/>
          <p:cNvSpPr txBox="1"/>
          <p:nvPr/>
        </p:nvSpPr>
        <p:spPr>
          <a:xfrm>
            <a:off x="3050032" y="4343400"/>
            <a:ext cx="1181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資產分類碼</a:t>
            </a:r>
            <a:endParaRPr lang="en-US" sz="1400" dirty="0"/>
          </a:p>
        </p:txBody>
      </p:sp>
      <p:sp>
        <p:nvSpPr>
          <p:cNvPr id="30" name="chip-180"/>
          <p:cNvSpPr/>
          <p:nvPr/>
        </p:nvSpPr>
        <p:spPr>
          <a:xfrm>
            <a:off x="4341368" y="4343400"/>
            <a:ext cx="1003808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text-181"/>
          <p:cNvSpPr txBox="1"/>
          <p:nvPr/>
        </p:nvSpPr>
        <p:spPr>
          <a:xfrm>
            <a:off x="4341368" y="4343400"/>
            <a:ext cx="1003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是否特權</a:t>
            </a:r>
            <a:endParaRPr lang="en-US" sz="1400" dirty="0"/>
          </a:p>
        </p:txBody>
      </p:sp>
      <p:sp>
        <p:nvSpPr>
          <p:cNvPr id="32" name="panel-182"/>
          <p:cNvSpPr/>
          <p:nvPr/>
        </p:nvSpPr>
        <p:spPr>
          <a:xfrm>
            <a:off x="6190488" y="3383280"/>
            <a:ext cx="5440680" cy="1828800"/>
          </a:xfrm>
          <a:prstGeom prst="roundRect">
            <a:avLst>
              <a:gd name="adj" fmla="val 3000"/>
            </a:avLst>
          </a:prstGeom>
          <a:solidFill>
            <a:schemeClr val="accent6">
              <a:alpha val="7000"/>
            </a:schemeClr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33" name="icon-183" descr="calenda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8" y="3657600"/>
            <a:ext cx="420624" cy="420624"/>
          </a:xfrm>
          <a:prstGeom prst="rect">
            <a:avLst/>
          </a:prstGeom>
        </p:spPr>
      </p:pic>
      <p:sp>
        <p:nvSpPr>
          <p:cNvPr id="34" name="text-184"/>
          <p:cNvSpPr txBox="1"/>
          <p:nvPr/>
        </p:nvSpPr>
        <p:spPr>
          <a:xfrm>
            <a:off x="7059168" y="3630168"/>
            <a:ext cx="4343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期限與原因</a:t>
            </a:r>
            <a:endParaRPr lang="en-US" sz="2000" dirty="0"/>
          </a:p>
        </p:txBody>
      </p:sp>
      <p:sp>
        <p:nvSpPr>
          <p:cNvPr id="35" name="chip-185"/>
          <p:cNvSpPr/>
          <p:nvPr/>
        </p:nvSpPr>
        <p:spPr>
          <a:xfrm>
            <a:off x="6464808" y="4343400"/>
            <a:ext cx="1003808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text-186"/>
          <p:cNvSpPr txBox="1"/>
          <p:nvPr/>
        </p:nvSpPr>
        <p:spPr>
          <a:xfrm>
            <a:off x="6464808" y="4343400"/>
            <a:ext cx="1003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有效期限</a:t>
            </a:r>
            <a:endParaRPr lang="en-US" sz="1400" dirty="0"/>
          </a:p>
        </p:txBody>
      </p:sp>
      <p:sp>
        <p:nvSpPr>
          <p:cNvPr id="37" name="chip-187"/>
          <p:cNvSpPr/>
          <p:nvPr/>
        </p:nvSpPr>
        <p:spPr>
          <a:xfrm>
            <a:off x="7578344" y="4343400"/>
            <a:ext cx="1003808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8" name="text-188"/>
          <p:cNvSpPr txBox="1"/>
          <p:nvPr/>
        </p:nvSpPr>
        <p:spPr>
          <a:xfrm>
            <a:off x="7578344" y="4343400"/>
            <a:ext cx="1003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申請原因</a:t>
            </a:r>
            <a:endParaRPr lang="en-US" sz="1400" dirty="0"/>
          </a:p>
        </p:txBody>
      </p:sp>
      <p:sp>
        <p:nvSpPr>
          <p:cNvPr id="39" name="chip-189"/>
          <p:cNvSpPr/>
          <p:nvPr/>
        </p:nvSpPr>
        <p:spPr>
          <a:xfrm>
            <a:off x="8691880" y="4343400"/>
            <a:ext cx="1359408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0" name="text-190"/>
          <p:cNvSpPr txBox="1"/>
          <p:nvPr/>
        </p:nvSpPr>
        <p:spPr>
          <a:xfrm>
            <a:off x="8691880" y="4343400"/>
            <a:ext cx="1359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附件（選填）</a:t>
            </a:r>
            <a:endParaRPr lang="en-US" sz="1400" dirty="0"/>
          </a:p>
        </p:txBody>
      </p:sp>
      <p:sp>
        <p:nvSpPr>
          <p:cNvPr id="41" name="chip-191"/>
          <p:cNvSpPr/>
          <p:nvPr/>
        </p:nvSpPr>
        <p:spPr>
          <a:xfrm>
            <a:off x="10161016" y="4343400"/>
            <a:ext cx="1181608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2" name="text-192"/>
          <p:cNvSpPr txBox="1"/>
          <p:nvPr/>
        </p:nvSpPr>
        <p:spPr>
          <a:xfrm>
            <a:off x="10161016" y="4343400"/>
            <a:ext cx="1181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唯一性聲明</a:t>
            </a:r>
            <a:endParaRPr lang="en-US" sz="1400" dirty="0"/>
          </a:p>
        </p:txBody>
      </p:sp>
      <p:sp>
        <p:nvSpPr>
          <p:cNvPr id="43" name="panel-193"/>
          <p:cNvSpPr/>
          <p:nvPr/>
        </p:nvSpPr>
        <p:spPr>
          <a:xfrm>
            <a:off x="548640" y="5440680"/>
            <a:ext cx="11094415" cy="713232"/>
          </a:xfrm>
          <a:prstGeom prst="roundRect">
            <a:avLst>
              <a:gd name="adj" fmla="val 7692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4" name="icon-194" descr="id-badge-2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577840"/>
            <a:ext cx="420624" cy="420624"/>
          </a:xfrm>
          <a:prstGeom prst="rect">
            <a:avLst/>
          </a:prstGeom>
        </p:spPr>
      </p:pic>
      <p:sp>
        <p:nvSpPr>
          <p:cNvPr id="45" name="text-195"/>
          <p:cNvSpPr txBox="1"/>
          <p:nvPr/>
        </p:nvSpPr>
        <p:spPr>
          <a:xfrm>
            <a:off x="1371600" y="5440680"/>
            <a:ext cx="100885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機房門禁卡　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不填帳號名稱與所屬系統，改填門禁範圍與使用人 Email；卡號由執行人刷卡後登記。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五種申請類型</a:t>
            </a:r>
            <a:endParaRPr lang="en-US" sz="3600" dirty="0"/>
          </a:p>
        </p:txBody>
      </p:sp>
      <p:graphicFrame>
        <p:nvGraphicFramePr>
          <p:cNvPr id="11" name="table-1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9494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114800"/>
                <a:gridCol w="128016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類型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用途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流程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新增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建立新帳號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 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修改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調整權限、使用人等內容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 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停用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停用帳號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 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重新啟用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將已停用的帳號恢復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 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刪除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帳號不再使用；資料保留供稽核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 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-197"/>
          <p:cNvSpPr txBox="1"/>
          <p:nvPr/>
        </p:nvSpPr>
        <p:spPr>
          <a:xfrm>
            <a:off x="548640" y="51663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停用、刪除在執行人完成時生效，複驗為事後核對</a:t>
            </a:r>
            <a:endParaRPr lang="en-US" sz="1400" dirty="0"/>
          </a:p>
        </p:txBody>
      </p:sp>
      <p:sp>
        <p:nvSpPr>
          <p:cNvPr id="5" name="panel-198"/>
          <p:cNvSpPr/>
          <p:nvPr/>
        </p:nvSpPr>
        <p:spPr>
          <a:xfrm>
            <a:off x="7863840" y="1417320"/>
            <a:ext cx="3776472" cy="2377440"/>
          </a:xfrm>
          <a:prstGeom prst="roundRect">
            <a:avLst>
              <a:gd name="adj" fmla="val 2308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-199"/>
          <p:cNvSpPr txBox="1"/>
          <p:nvPr/>
        </p:nvSpPr>
        <p:spPr>
          <a:xfrm>
            <a:off x="8092440" y="1508760"/>
            <a:ext cx="3337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到期就是到期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例如廠商臨時來支援，開通一個期限一週的帳號。到期就標示為已逾期，只能停用或刪除；需要延長就重新提出新增申請。</a:t>
            </a:r>
            <a:endParaRPr lang="en-US" sz="1400" dirty="0"/>
          </a:p>
        </p:txBody>
      </p:sp>
      <p:sp>
        <p:nvSpPr>
          <p:cNvPr id="7" name="panel-200"/>
          <p:cNvSpPr/>
          <p:nvPr/>
        </p:nvSpPr>
        <p:spPr>
          <a:xfrm>
            <a:off x="7863840" y="4023360"/>
            <a:ext cx="3776472" cy="1828800"/>
          </a:xfrm>
          <a:prstGeom prst="roundRect">
            <a:avLst>
              <a:gd name="adj" fmla="val 3000"/>
            </a:avLst>
          </a:prstGeom>
          <a:solidFill>
            <a:schemeClr val="accent6">
              <a:alpha val="7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-201"/>
          <p:cNvSpPr txBox="1"/>
          <p:nvPr/>
        </p:nvSpPr>
        <p:spPr>
          <a:xfrm>
            <a:off x="8092440" y="4114800"/>
            <a:ext cx="3337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一次只能有一筆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6"/>
                </a:solidFill>
              </a:rPr>
              <a:t>同一帳號若已有申請在處理中，不能再提出第二筆，避免兩張單互相衝突。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流程中的管控設計</a:t>
            </a:r>
            <a:endParaRPr lang="en-US" sz="3600" dirty="0"/>
          </a:p>
        </p:txBody>
      </p:sp>
      <p:sp>
        <p:nvSpPr>
          <p:cNvPr id="3" name="chip-202"/>
          <p:cNvSpPr/>
          <p:nvPr/>
        </p:nvSpPr>
        <p:spPr>
          <a:xfrm>
            <a:off x="54864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-203"/>
          <p:cNvSpPr txBox="1"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-204"/>
          <p:cNvSpPr txBox="1"/>
          <p:nvPr/>
        </p:nvSpPr>
        <p:spPr>
          <a:xfrm>
            <a:off x="1234440" y="138988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每一關都記錄實際操作人與時間</a:t>
            </a:r>
            <a:endParaRPr lang="en-US" sz="1800" dirty="0"/>
          </a:p>
        </p:txBody>
      </p:sp>
      <p:sp>
        <p:nvSpPr>
          <p:cNvPr id="6" name="text-205"/>
          <p:cNvSpPr txBox="1"/>
          <p:nvPr/>
        </p:nvSpPr>
        <p:spPr>
          <a:xfrm>
            <a:off x="1234440" y="180136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不是只記「這一關由某幾個人負責」</a:t>
            </a:r>
            <a:endParaRPr lang="en-US" sz="1400" dirty="0"/>
          </a:p>
        </p:txBody>
      </p:sp>
      <p:sp>
        <p:nvSpPr>
          <p:cNvPr id="7" name="chip-206"/>
          <p:cNvSpPr/>
          <p:nvPr/>
        </p:nvSpPr>
        <p:spPr>
          <a:xfrm>
            <a:off x="548640" y="245973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-207"/>
          <p:cNvSpPr txBox="1"/>
          <p:nvPr/>
        </p:nvSpPr>
        <p:spPr>
          <a:xfrm>
            <a:off x="548640" y="2459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-208"/>
          <p:cNvSpPr txBox="1"/>
          <p:nvPr/>
        </p:nvSpPr>
        <p:spPr>
          <a:xfrm>
            <a:off x="1234440" y="234086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複驗通過才交付帳號</a:t>
            </a:r>
            <a:endParaRPr lang="en-US" sz="1800" dirty="0"/>
          </a:p>
        </p:txBody>
      </p:sp>
      <p:sp>
        <p:nvSpPr>
          <p:cNvPr id="10" name="text-209"/>
          <p:cNvSpPr txBox="1"/>
          <p:nvPr/>
        </p:nvSpPr>
        <p:spPr>
          <a:xfrm>
            <a:off x="1234440" y="275234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資訊治理核對執行人的佐證與申請內容相符，才把帳號交給使用者</a:t>
            </a:r>
            <a:endParaRPr lang="en-US" sz="1400" dirty="0"/>
          </a:p>
        </p:txBody>
      </p:sp>
      <p:sp>
        <p:nvSpPr>
          <p:cNvPr id="11" name="chip-210"/>
          <p:cNvSpPr/>
          <p:nvPr/>
        </p:nvSpPr>
        <p:spPr>
          <a:xfrm>
            <a:off x="548640" y="341071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-211"/>
          <p:cNvSpPr txBox="1"/>
          <p:nvPr/>
        </p:nvSpPr>
        <p:spPr>
          <a:xfrm>
            <a:off x="548640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-212"/>
          <p:cNvSpPr txBox="1"/>
          <p:nvPr/>
        </p:nvSpPr>
        <p:spPr>
          <a:xfrm>
            <a:off x="1234440" y="329184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人員異動以當下名單為準</a:t>
            </a:r>
            <a:endParaRPr lang="en-US" sz="1800" dirty="0"/>
          </a:p>
        </p:txBody>
      </p:sp>
      <p:sp>
        <p:nvSpPr>
          <p:cNvPr id="14" name="text-213"/>
          <p:cNvSpPr txBox="1"/>
          <p:nvPr/>
        </p:nvSpPr>
        <p:spPr>
          <a:xfrm>
            <a:off x="1234440" y="37033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單子卡在某一關時若換人，由新任者簽；已完成的簽核不受影響</a:t>
            </a:r>
            <a:endParaRPr lang="en-US" sz="1400" dirty="0"/>
          </a:p>
        </p:txBody>
      </p:sp>
      <p:sp>
        <p:nvSpPr>
          <p:cNvPr id="15" name="chip-214"/>
          <p:cNvSpPr/>
          <p:nvPr/>
        </p:nvSpPr>
        <p:spPr>
          <a:xfrm>
            <a:off x="548640" y="436168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-215"/>
          <p:cNvSpPr txBox="1"/>
          <p:nvPr/>
        </p:nvSpPr>
        <p:spPr>
          <a:xfrm>
            <a:off x="548640" y="4361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-216"/>
          <p:cNvSpPr txBox="1"/>
          <p:nvPr/>
        </p:nvSpPr>
        <p:spPr>
          <a:xfrm>
            <a:off x="1234440" y="4242816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所有權限由系統後端檢查</a:t>
            </a:r>
            <a:endParaRPr lang="en-US" sz="1800" dirty="0"/>
          </a:p>
        </p:txBody>
      </p:sp>
      <p:sp>
        <p:nvSpPr>
          <p:cNvPr id="18" name="text-217"/>
          <p:cNvSpPr txBox="1"/>
          <p:nvPr/>
        </p:nvSpPr>
        <p:spPr>
          <a:xfrm>
            <a:off x="1234440" y="465429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不只是隱藏按鈕；知道網址也看不到別人的申請單</a:t>
            </a:r>
            <a:endParaRPr lang="en-US" sz="1400" dirty="0"/>
          </a:p>
        </p:txBody>
      </p:sp>
      <p:sp>
        <p:nvSpPr>
          <p:cNvPr id="19" name="chip-218"/>
          <p:cNvSpPr/>
          <p:nvPr/>
        </p:nvSpPr>
        <p:spPr>
          <a:xfrm>
            <a:off x="548640" y="531266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-219"/>
          <p:cNvSpPr txBox="1"/>
          <p:nvPr/>
        </p:nvSpPr>
        <p:spPr>
          <a:xfrm>
            <a:off x="548640" y="5312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-220"/>
          <p:cNvSpPr txBox="1"/>
          <p:nvPr/>
        </p:nvSpPr>
        <p:spPr>
          <a:xfrm>
            <a:off x="1234440" y="519379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送出前勾選帳號唯一性聲明</a:t>
            </a:r>
            <a:endParaRPr lang="en-US" sz="1800" dirty="0"/>
          </a:p>
        </p:txBody>
      </p:sp>
      <p:sp>
        <p:nvSpPr>
          <p:cNvPr id="22" name="text-221"/>
          <p:cNvSpPr txBox="1"/>
          <p:nvPr/>
        </p:nvSpPr>
        <p:spPr>
          <a:xfrm>
            <a:off x="1234440" y="560527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依存取控制管理程序書 5.3.4，帳號不得共用或轉借</a:t>
            </a:r>
            <a:endParaRPr lang="en-US" sz="1400" dirty="0"/>
          </a:p>
        </p:txBody>
      </p:sp>
      <p:sp>
        <p:nvSpPr>
          <p:cNvPr id="23" name="panel-222"/>
          <p:cNvSpPr/>
          <p:nvPr/>
        </p:nvSpPr>
        <p:spPr>
          <a:xfrm>
            <a:off x="7498080" y="1417320"/>
            <a:ext cx="4142232" cy="4663440"/>
          </a:xfrm>
          <a:prstGeom prst="roundRect">
            <a:avLst>
              <a:gd name="adj" fmla="val 1325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-223"/>
          <p:cNvSpPr txBox="1"/>
          <p:nvPr/>
        </p:nvSpPr>
        <p:spPr>
          <a:xfrm>
            <a:off x="7726680" y="1600200"/>
            <a:ext cx="37033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機房門禁卡的差異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卡號要等執行人實際刷卡才知道，所以申請時不填，由第 6 關執行人登記。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門禁範圍分「僅測試區」與「機房完整權限」（兩道門），調整範圍走「修改」即可，不需換卡。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門禁卡一律納入半年審查。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到期管理</a:t>
            </a:r>
            <a:endParaRPr lang="en-US" sz="3600" dirty="0"/>
          </a:p>
        </p:txBody>
      </p:sp>
      <p:sp>
        <p:nvSpPr>
          <p:cNvPr id="3" name="tag-224"/>
          <p:cNvSpPr/>
          <p:nvPr/>
        </p:nvSpPr>
        <p:spPr>
          <a:xfrm>
            <a:off x="548640" y="1325880"/>
            <a:ext cx="1024128" cy="329184"/>
          </a:xfrm>
          <a:prstGeom prst="roundRect">
            <a:avLst>
              <a:gd name="adj" fmla="val 13889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-225"/>
          <p:cNvSpPr txBox="1"/>
          <p:nvPr/>
        </p:nvSpPr>
        <p:spPr>
          <a:xfrm>
            <a:off x="548640" y="1325880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第一階段</a:t>
            </a:r>
            <a:endParaRPr lang="en-US" sz="1200" dirty="0"/>
          </a:p>
        </p:txBody>
      </p:sp>
      <p:sp>
        <p:nvSpPr>
          <p:cNvPr id="5" name="panel-226"/>
          <p:cNvSpPr/>
          <p:nvPr/>
        </p:nvSpPr>
        <p:spPr>
          <a:xfrm>
            <a:off x="548640" y="1874520"/>
            <a:ext cx="2103120" cy="914400"/>
          </a:xfrm>
          <a:prstGeom prst="roundRect">
            <a:avLst>
              <a:gd name="adj" fmla="val 60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-227"/>
          <p:cNvSpPr txBox="1"/>
          <p:nvPr/>
        </p:nvSpPr>
        <p:spPr>
          <a:xfrm>
            <a:off x="621792" y="1874520"/>
            <a:ext cx="1956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已核准</a:t>
            </a:r>
            <a:endParaRPr lang="en-US" sz="1400" dirty="0"/>
          </a:p>
        </p:txBody>
      </p:sp>
      <p:sp>
        <p:nvSpPr>
          <p:cNvPr id="7" name="panel-228"/>
          <p:cNvSpPr/>
          <p:nvPr/>
        </p:nvSpPr>
        <p:spPr>
          <a:xfrm>
            <a:off x="3566160" y="1874520"/>
            <a:ext cx="2286000" cy="914400"/>
          </a:xfrm>
          <a:prstGeom prst="roundRect">
            <a:avLst>
              <a:gd name="adj" fmla="val 6000"/>
            </a:avLst>
          </a:prstGeom>
          <a:solidFill>
            <a:schemeClr val="accent6">
              <a:alpha val="7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-229"/>
          <p:cNvSpPr txBox="1"/>
          <p:nvPr/>
        </p:nvSpPr>
        <p:spPr>
          <a:xfrm>
            <a:off x="3639312" y="1874520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到期前 7 天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Email 提醒</a:t>
            </a:r>
            <a:endParaRPr lang="en-US" sz="1400" dirty="0"/>
          </a:p>
        </p:txBody>
      </p:sp>
      <p:sp>
        <p:nvSpPr>
          <p:cNvPr id="9" name="panel-230"/>
          <p:cNvSpPr/>
          <p:nvPr/>
        </p:nvSpPr>
        <p:spPr>
          <a:xfrm>
            <a:off x="6903720" y="1874520"/>
            <a:ext cx="2103120" cy="914400"/>
          </a:xfrm>
          <a:prstGeom prst="roundRect">
            <a:avLst>
              <a:gd name="adj" fmla="val 6000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-231"/>
          <p:cNvSpPr txBox="1"/>
          <p:nvPr/>
        </p:nvSpPr>
        <p:spPr>
          <a:xfrm>
            <a:off x="6976872" y="1874520"/>
            <a:ext cx="1956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已逾期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Email 通知</a:t>
            </a:r>
            <a:endParaRPr lang="en-US" sz="1400" dirty="0"/>
          </a:p>
        </p:txBody>
      </p:sp>
      <p:sp>
        <p:nvSpPr>
          <p:cNvPr id="11" name="panel-232"/>
          <p:cNvSpPr/>
          <p:nvPr/>
        </p:nvSpPr>
        <p:spPr>
          <a:xfrm>
            <a:off x="9537192" y="1874520"/>
            <a:ext cx="2103120" cy="914400"/>
          </a:xfrm>
          <a:prstGeom prst="roundRect">
            <a:avLst>
              <a:gd name="adj" fmla="val 6000"/>
            </a:avLst>
          </a:prstGeom>
          <a:solidFill>
            <a:schemeClr val="accent6">
              <a:alpha val="7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-233"/>
          <p:cNvSpPr txBox="1"/>
          <p:nvPr/>
        </p:nvSpPr>
        <p:spPr>
          <a:xfrm>
            <a:off x="9610344" y="1874520"/>
            <a:ext cx="1956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停用或刪除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提出申請</a:t>
            </a:r>
            <a:endParaRPr lang="en-US" sz="1400" dirty="0"/>
          </a:p>
        </p:txBody>
      </p:sp>
      <p:sp>
        <p:nvSpPr>
          <p:cNvPr id="13" name="line-234"/>
          <p:cNvSpPr/>
          <p:nvPr/>
        </p:nvSpPr>
        <p:spPr>
          <a:xfrm>
            <a:off x="2697480" y="2331720"/>
            <a:ext cx="82296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4" name="line-235"/>
          <p:cNvSpPr/>
          <p:nvPr/>
        </p:nvSpPr>
        <p:spPr>
          <a:xfrm>
            <a:off x="5897880" y="2331720"/>
            <a:ext cx="96012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5" name="text-236"/>
          <p:cNvSpPr txBox="1"/>
          <p:nvPr/>
        </p:nvSpPr>
        <p:spPr>
          <a:xfrm>
            <a:off x="5852160" y="1271016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每日凌晨檢查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到期日已過</a:t>
            </a:r>
            <a:endParaRPr lang="en-US" sz="1200" dirty="0"/>
          </a:p>
        </p:txBody>
      </p:sp>
      <p:sp>
        <p:nvSpPr>
          <p:cNvPr id="16" name="line-237"/>
          <p:cNvSpPr/>
          <p:nvPr/>
        </p:nvSpPr>
        <p:spPr>
          <a:xfrm>
            <a:off x="9052560" y="2331720"/>
            <a:ext cx="438912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7" name="text-238"/>
          <p:cNvSpPr txBox="1"/>
          <p:nvPr/>
        </p:nvSpPr>
        <p:spPr>
          <a:xfrm>
            <a:off x="548640" y="31546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Email 通知</a:t>
            </a:r>
            <a:endParaRPr lang="en-US" sz="1600" dirty="0"/>
          </a:p>
        </p:txBody>
      </p:sp>
      <p:graphicFrame>
        <p:nvGraphicFramePr>
          <p:cNvPr id="13" name="table-2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11880"/>
          <a:ext cx="63093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3891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時間點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寄給誰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到期前 7 天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原申請人、執行人、資訊治理組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轉為已逾期當天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原申請人、執行人、資訊治理組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每週一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資訊治理組：所有已逾期但尚未停用或刪除的帳號（彙總一封）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panel-240"/>
          <p:cNvSpPr/>
          <p:nvPr/>
        </p:nvSpPr>
        <p:spPr>
          <a:xfrm>
            <a:off x="7223760" y="3154680"/>
            <a:ext cx="4416552" cy="2926080"/>
          </a:xfrm>
          <a:prstGeom prst="roundRect">
            <a:avLst>
              <a:gd name="adj" fmla="val 1875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-241"/>
          <p:cNvSpPr txBox="1"/>
          <p:nvPr/>
        </p:nvSpPr>
        <p:spPr>
          <a:xfrm>
            <a:off x="7424928" y="3246120"/>
            <a:ext cx="4023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為什麼是「已逾期」而不是「已停用」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系統負責登記與簽核，不會直接關閉實際的資料庫帳號或門禁卡。若系統自行標成已停用、實際帳號卻還能用，紀錄就與現實不符。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因此到期時標示已逾期，提醒相關人員提出停用或刪除申請。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定期權限審查：對象與審查狀態</a:t>
            </a:r>
            <a:endParaRPr lang="en-US" sz="3600" dirty="0"/>
          </a:p>
        </p:txBody>
      </p:sp>
      <p:sp>
        <p:nvSpPr>
          <p:cNvPr id="3" name="tag-242"/>
          <p:cNvSpPr/>
          <p:nvPr/>
        </p:nvSpPr>
        <p:spPr>
          <a:xfrm>
            <a:off x="548640" y="1325880"/>
            <a:ext cx="1024128" cy="329184"/>
          </a:xfrm>
          <a:prstGeom prst="roundRect">
            <a:avLst>
              <a:gd name="adj" fmla="val 13889"/>
            </a:avLst>
          </a:prstGeom>
          <a:solidFill>
            <a:schemeClr val="accent5">
              <a:alpha val="1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-243"/>
          <p:cNvSpPr txBox="1"/>
          <p:nvPr/>
        </p:nvSpPr>
        <p:spPr>
          <a:xfrm>
            <a:off x="548640" y="1325880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第二階段</a:t>
            </a:r>
            <a:endParaRPr lang="en-US" sz="1200" dirty="0"/>
          </a:p>
        </p:txBody>
      </p:sp>
      <p:sp>
        <p:nvSpPr>
          <p:cNvPr id="5" name="text-244"/>
          <p:cNvSpPr txBox="1"/>
          <p:nvPr/>
        </p:nvSpPr>
        <p:spPr>
          <a:xfrm>
            <a:off x="548640" y="17830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符合任一條件的帳號，每 180 天由兩位主管雙簽確認一次</a:t>
            </a:r>
            <a:endParaRPr lang="en-US" sz="1800" dirty="0"/>
          </a:p>
        </p:txBody>
      </p:sp>
      <p:sp>
        <p:nvSpPr>
          <p:cNvPr id="6" name="panel-245"/>
          <p:cNvSpPr/>
          <p:nvPr/>
        </p:nvSpPr>
        <p:spPr>
          <a:xfrm>
            <a:off x="548640" y="2377440"/>
            <a:ext cx="3291840" cy="731520"/>
          </a:xfrm>
          <a:prstGeom prst="roundRect">
            <a:avLst>
              <a:gd name="adj" fmla="val 7500"/>
            </a:avLst>
          </a:prstGeom>
          <a:solidFill>
            <a:schemeClr val="accent6">
              <a:alpha val="7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-246"/>
          <p:cNvSpPr txBox="1"/>
          <p:nvPr/>
        </p:nvSpPr>
        <p:spPr>
          <a:xfrm>
            <a:off x="621792" y="2377440"/>
            <a:ext cx="3145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資產分類 H01、H05、S01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與營運直接相關</a:t>
            </a:r>
            <a:endParaRPr lang="en-US" sz="1400" dirty="0"/>
          </a:p>
        </p:txBody>
      </p:sp>
      <p:sp>
        <p:nvSpPr>
          <p:cNvPr id="8" name="panel-247"/>
          <p:cNvSpPr/>
          <p:nvPr/>
        </p:nvSpPr>
        <p:spPr>
          <a:xfrm>
            <a:off x="548640" y="3246120"/>
            <a:ext cx="3291840" cy="731520"/>
          </a:xfrm>
          <a:prstGeom prst="roundRect">
            <a:avLst>
              <a:gd name="adj" fmla="val 7500"/>
            </a:avLst>
          </a:prstGeom>
          <a:solidFill>
            <a:schemeClr val="accent6">
              <a:alpha val="7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-248"/>
          <p:cNvSpPr txBox="1"/>
          <p:nvPr/>
        </p:nvSpPr>
        <p:spPr>
          <a:xfrm>
            <a:off x="621792" y="3246120"/>
            <a:ext cx="3145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機房門禁卡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實體安全</a:t>
            </a:r>
            <a:endParaRPr lang="en-US" sz="1400" dirty="0"/>
          </a:p>
        </p:txBody>
      </p:sp>
      <p:sp>
        <p:nvSpPr>
          <p:cNvPr id="10" name="panel-249"/>
          <p:cNvSpPr/>
          <p:nvPr/>
        </p:nvSpPr>
        <p:spPr>
          <a:xfrm>
            <a:off x="548640" y="4114800"/>
            <a:ext cx="3291840" cy="731520"/>
          </a:xfrm>
          <a:prstGeom prst="roundRect">
            <a:avLst>
              <a:gd name="adj" fmla="val 7500"/>
            </a:avLst>
          </a:prstGeom>
          <a:solidFill>
            <a:schemeClr val="accent6">
              <a:alpha val="7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-250"/>
          <p:cNvSpPr txBox="1"/>
          <p:nvPr/>
        </p:nvSpPr>
        <p:spPr>
          <a:xfrm>
            <a:off x="621792" y="4114800"/>
            <a:ext cx="3145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標記為特權帳號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例如 root、sa</a:t>
            </a:r>
            <a:endParaRPr lang="en-US" sz="1400" dirty="0"/>
          </a:p>
        </p:txBody>
      </p:sp>
      <p:sp>
        <p:nvSpPr>
          <p:cNvPr id="12" name="text-251"/>
          <p:cNvSpPr txBox="1"/>
          <p:nvPr/>
        </p:nvSpPr>
        <p:spPr>
          <a:xfrm>
            <a:off x="548640" y="50292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對應 SR-008-A04「至少每半年清查帳號與權限，交由權責單位覆核」</a:t>
            </a:r>
            <a:endParaRPr lang="en-US" sz="1200" dirty="0"/>
          </a:p>
        </p:txBody>
      </p:sp>
      <p:graphicFrame>
        <p:nvGraphicFramePr>
          <p:cNvPr id="14" name="table-2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0" y="2377440"/>
          <a:ext cx="743407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017520"/>
                <a:gridCol w="3044952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審查狀態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條件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通知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正常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距下次應審查日超過 30 天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待複審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30 天內，進入兩位審查人的待辦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Email 兩位審查人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逾期未審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超過 180 天仍未完成雙簽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併入每週一彙總信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審查異常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被駁回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Email 原申請人、資訊治理組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panel-253"/>
          <p:cNvSpPr/>
          <p:nvPr/>
        </p:nvSpPr>
        <p:spPr>
          <a:xfrm>
            <a:off x="4206240" y="5486400"/>
            <a:ext cx="7434072" cy="658368"/>
          </a:xfrm>
          <a:prstGeom prst="roundRect">
            <a:avLst>
              <a:gd name="adj" fmla="val 8333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-254"/>
          <p:cNvSpPr txBox="1"/>
          <p:nvPr/>
        </p:nvSpPr>
        <p:spPr>
          <a:xfrm>
            <a:off x="4434840" y="5486400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審查期間帳號照常可用　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系統不會停用實際帳號，只是標示審查狀態並通知審查人。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定期權限審查：流程</a:t>
            </a:r>
            <a:endParaRPr lang="en-US" sz="3600" dirty="0"/>
          </a:p>
        </p:txBody>
      </p:sp>
      <p:sp>
        <p:nvSpPr>
          <p:cNvPr id="3" name="tag-255"/>
          <p:cNvSpPr/>
          <p:nvPr/>
        </p:nvSpPr>
        <p:spPr>
          <a:xfrm>
            <a:off x="548640" y="1325880"/>
            <a:ext cx="1024128" cy="329184"/>
          </a:xfrm>
          <a:prstGeom prst="roundRect">
            <a:avLst>
              <a:gd name="adj" fmla="val 13889"/>
            </a:avLst>
          </a:prstGeom>
          <a:solidFill>
            <a:schemeClr val="accent5">
              <a:alpha val="1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-256"/>
          <p:cNvSpPr txBox="1"/>
          <p:nvPr/>
        </p:nvSpPr>
        <p:spPr>
          <a:xfrm>
            <a:off x="548640" y="1325880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第二階段</a:t>
            </a:r>
            <a:endParaRPr lang="en-US" sz="1200" dirty="0"/>
          </a:p>
        </p:txBody>
      </p:sp>
      <p:sp>
        <p:nvSpPr>
          <p:cNvPr id="5" name="panel-257"/>
          <p:cNvSpPr/>
          <p:nvPr/>
        </p:nvSpPr>
        <p:spPr>
          <a:xfrm>
            <a:off x="548640" y="2148840"/>
            <a:ext cx="2103120" cy="1097280"/>
          </a:xfrm>
          <a:prstGeom prst="roundRect">
            <a:avLst>
              <a:gd name="adj" fmla="val 5000"/>
            </a:avLst>
          </a:prstGeom>
          <a:solidFill>
            <a:schemeClr val="accent6">
              <a:alpha val="7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-258"/>
          <p:cNvSpPr txBox="1"/>
          <p:nvPr/>
        </p:nvSpPr>
        <p:spPr>
          <a:xfrm>
            <a:off x="621792" y="2148840"/>
            <a:ext cx="1956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每日檢查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距下次應審查日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30 天內</a:t>
            </a:r>
            <a:endParaRPr lang="en-US" sz="1400" dirty="0"/>
          </a:p>
        </p:txBody>
      </p:sp>
      <p:sp>
        <p:nvSpPr>
          <p:cNvPr id="7" name="panel-259"/>
          <p:cNvSpPr/>
          <p:nvPr/>
        </p:nvSpPr>
        <p:spPr>
          <a:xfrm>
            <a:off x="3108960" y="2148840"/>
            <a:ext cx="2011680" cy="1097280"/>
          </a:xfrm>
          <a:prstGeom prst="roundRect">
            <a:avLst>
              <a:gd name="adj" fmla="val 5000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-260"/>
          <p:cNvSpPr txBox="1"/>
          <p:nvPr/>
        </p:nvSpPr>
        <p:spPr>
          <a:xfrm>
            <a:off x="3182112" y="2148840"/>
            <a:ext cx="1865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待複審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Email 兩位審查人</a:t>
            </a:r>
            <a:endParaRPr lang="en-US" sz="1400" dirty="0"/>
          </a:p>
        </p:txBody>
      </p:sp>
      <p:sp>
        <p:nvSpPr>
          <p:cNvPr id="9" name="panel-261"/>
          <p:cNvSpPr/>
          <p:nvPr/>
        </p:nvSpPr>
        <p:spPr>
          <a:xfrm>
            <a:off x="5897880" y="1737360"/>
            <a:ext cx="2514600" cy="914400"/>
          </a:xfrm>
          <a:prstGeom prst="roundRect">
            <a:avLst>
              <a:gd name="adj" fmla="val 6000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-262"/>
          <p:cNvSpPr txBox="1"/>
          <p:nvPr/>
        </p:nvSpPr>
        <p:spPr>
          <a:xfrm>
            <a:off x="5971032" y="1737360"/>
            <a:ext cx="2368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Infra 主管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Terry 或 Wensen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簽核／駁回</a:t>
            </a:r>
            <a:endParaRPr lang="en-US" sz="1400" dirty="0"/>
          </a:p>
        </p:txBody>
      </p:sp>
      <p:sp>
        <p:nvSpPr>
          <p:cNvPr id="11" name="panel-263"/>
          <p:cNvSpPr/>
          <p:nvPr/>
        </p:nvSpPr>
        <p:spPr>
          <a:xfrm>
            <a:off x="5897880" y="2743200"/>
            <a:ext cx="2514600" cy="914400"/>
          </a:xfrm>
          <a:prstGeom prst="roundRect">
            <a:avLst>
              <a:gd name="adj" fmla="val 6000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-264"/>
          <p:cNvSpPr txBox="1"/>
          <p:nvPr/>
        </p:nvSpPr>
        <p:spPr>
          <a:xfrm>
            <a:off x="5971032" y="2743200"/>
            <a:ext cx="2368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資訊治理主管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Molly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簽核／駁回</a:t>
            </a:r>
            <a:endParaRPr lang="en-US" sz="1400" dirty="0"/>
          </a:p>
        </p:txBody>
      </p:sp>
      <p:sp>
        <p:nvSpPr>
          <p:cNvPr id="13" name="panel-265"/>
          <p:cNvSpPr/>
          <p:nvPr/>
        </p:nvSpPr>
        <p:spPr>
          <a:xfrm>
            <a:off x="9235440" y="2148840"/>
            <a:ext cx="2404872" cy="1097280"/>
          </a:xfrm>
          <a:prstGeom prst="roundRect">
            <a:avLst>
              <a:gd name="adj" fmla="val 50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-266"/>
          <p:cNvSpPr txBox="1"/>
          <p:nvPr/>
        </p:nvSpPr>
        <p:spPr>
          <a:xfrm>
            <a:off x="9308592" y="2148840"/>
            <a:ext cx="22585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審查完成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下次應審查日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往後 180 天</a:t>
            </a:r>
            <a:endParaRPr lang="en-US" sz="1400" dirty="0"/>
          </a:p>
        </p:txBody>
      </p:sp>
      <p:sp>
        <p:nvSpPr>
          <p:cNvPr id="15" name="line-267"/>
          <p:cNvSpPr/>
          <p:nvPr/>
        </p:nvSpPr>
        <p:spPr>
          <a:xfrm>
            <a:off x="2697480" y="2697480"/>
            <a:ext cx="36576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6" name="line-268"/>
          <p:cNvSpPr/>
          <p:nvPr/>
        </p:nvSpPr>
        <p:spPr>
          <a:xfrm flipV="1">
            <a:off x="5166360" y="2194560"/>
            <a:ext cx="685800" cy="36576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7" name="line-269"/>
          <p:cNvSpPr/>
          <p:nvPr/>
        </p:nvSpPr>
        <p:spPr>
          <a:xfrm>
            <a:off x="5166360" y="2834640"/>
            <a:ext cx="685800" cy="36576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8" name="line-270"/>
          <p:cNvSpPr/>
          <p:nvPr/>
        </p:nvSpPr>
        <p:spPr>
          <a:xfrm>
            <a:off x="8458200" y="2194560"/>
            <a:ext cx="731520" cy="36576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9" name="line-271"/>
          <p:cNvSpPr/>
          <p:nvPr/>
        </p:nvSpPr>
        <p:spPr>
          <a:xfrm flipV="1">
            <a:off x="8458200" y="2834640"/>
            <a:ext cx="731520" cy="36576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0" name="panel-272"/>
          <p:cNvSpPr/>
          <p:nvPr/>
        </p:nvSpPr>
        <p:spPr>
          <a:xfrm>
            <a:off x="3108960" y="4434840"/>
            <a:ext cx="2377440" cy="1005840"/>
          </a:xfrm>
          <a:prstGeom prst="roundRect">
            <a:avLst>
              <a:gd name="adj" fmla="val 5455"/>
            </a:avLst>
          </a:prstGeom>
          <a:solidFill>
            <a:schemeClr val="accent4">
              <a:alpha val="12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ext-273"/>
          <p:cNvSpPr txBox="1"/>
          <p:nvPr/>
        </p:nvSpPr>
        <p:spPr>
          <a:xfrm>
            <a:off x="3182112" y="4434840"/>
            <a:ext cx="22311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審查異常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Email 原申請人、資訊治理組</a:t>
            </a:r>
            <a:endParaRPr lang="en-US" sz="1400" dirty="0"/>
          </a:p>
        </p:txBody>
      </p:sp>
      <p:sp>
        <p:nvSpPr>
          <p:cNvPr id="22" name="panel-274"/>
          <p:cNvSpPr/>
          <p:nvPr/>
        </p:nvSpPr>
        <p:spPr>
          <a:xfrm>
            <a:off x="6263640" y="4434840"/>
            <a:ext cx="2651760" cy="1005840"/>
          </a:xfrm>
          <a:prstGeom prst="roundRect">
            <a:avLst>
              <a:gd name="adj" fmla="val 5455"/>
            </a:avLst>
          </a:prstGeom>
          <a:solidFill>
            <a:schemeClr val="accent6">
              <a:alpha val="7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-275"/>
          <p:cNvSpPr txBox="1"/>
          <p:nvPr/>
        </p:nvSpPr>
        <p:spPr>
          <a:xfrm>
            <a:off x="6336792" y="4434840"/>
            <a:ext cx="25054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提出修改或停用申請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走完流程</a:t>
            </a:r>
            <a:endParaRPr lang="en-US" sz="1400" dirty="0"/>
          </a:p>
        </p:txBody>
      </p:sp>
      <p:sp>
        <p:nvSpPr>
          <p:cNvPr id="24" name="panel-276"/>
          <p:cNvSpPr/>
          <p:nvPr/>
        </p:nvSpPr>
        <p:spPr>
          <a:xfrm>
            <a:off x="9235440" y="4434840"/>
            <a:ext cx="2404872" cy="1005840"/>
          </a:xfrm>
          <a:prstGeom prst="roundRect">
            <a:avLst>
              <a:gd name="adj" fmla="val 5455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text-277"/>
          <p:cNvSpPr txBox="1"/>
          <p:nvPr/>
        </p:nvSpPr>
        <p:spPr>
          <a:xfrm>
            <a:off x="9308592" y="4434840"/>
            <a:ext cx="2258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異常解除</a:t>
            </a:r>
            <a:endParaRPr lang="en-US" sz="1400" dirty="0"/>
          </a:p>
        </p:txBody>
      </p:sp>
      <p:sp>
        <p:nvSpPr>
          <p:cNvPr id="26" name="line-278"/>
          <p:cNvSpPr/>
          <p:nvPr/>
        </p:nvSpPr>
        <p:spPr>
          <a:xfrm>
            <a:off x="7155180" y="3685032"/>
            <a:ext cx="0" cy="429768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27" name="line-279"/>
          <p:cNvSpPr/>
          <p:nvPr/>
        </p:nvSpPr>
        <p:spPr>
          <a:xfrm>
            <a:off x="4297680" y="4114800"/>
            <a:ext cx="285750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28" name="line-280"/>
          <p:cNvSpPr/>
          <p:nvPr/>
        </p:nvSpPr>
        <p:spPr>
          <a:xfrm>
            <a:off x="4297680" y="4114800"/>
            <a:ext cx="0" cy="292608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9" name="text-281"/>
          <p:cNvSpPr txBox="1"/>
          <p:nvPr/>
        </p:nvSpPr>
        <p:spPr>
          <a:xfrm>
            <a:off x="3291840" y="3840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任一人駁回並填原因</a:t>
            </a:r>
            <a:endParaRPr lang="en-US" sz="1200" dirty="0"/>
          </a:p>
        </p:txBody>
      </p:sp>
      <p:sp>
        <p:nvSpPr>
          <p:cNvPr id="30" name="line-282"/>
          <p:cNvSpPr/>
          <p:nvPr/>
        </p:nvSpPr>
        <p:spPr>
          <a:xfrm>
            <a:off x="5532120" y="4937760"/>
            <a:ext cx="68580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1" name="line-283"/>
          <p:cNvSpPr/>
          <p:nvPr/>
        </p:nvSpPr>
        <p:spPr>
          <a:xfrm>
            <a:off x="8961120" y="4937760"/>
            <a:ext cx="22860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2" name="line-284"/>
          <p:cNvSpPr/>
          <p:nvPr/>
        </p:nvSpPr>
        <p:spPr>
          <a:xfrm flipV="1">
            <a:off x="10437876" y="1600200"/>
            <a:ext cx="0" cy="521208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33" name="line-285"/>
          <p:cNvSpPr/>
          <p:nvPr/>
        </p:nvSpPr>
        <p:spPr>
          <a:xfrm>
            <a:off x="4114800" y="1600200"/>
            <a:ext cx="6323076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34" name="line-286"/>
          <p:cNvSpPr/>
          <p:nvPr/>
        </p:nvSpPr>
        <p:spPr>
          <a:xfrm>
            <a:off x="4114800" y="1600200"/>
            <a:ext cx="0" cy="521208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5" name="text-287"/>
          <p:cNvSpPr txBox="1"/>
          <p:nvPr/>
        </p:nvSpPr>
        <p:spPr>
          <a:xfrm>
            <a:off x="548640" y="55778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兩位審查人各簽一半、順序不限，兩人都通過才完成。標記異常期間，任何人要核准該帳號的異動都會先看到警示；超過 180 天仍未完成雙簽，列為「逾期未審」並併入每週一彙總信。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緊急存取</a:t>
            </a:r>
            <a:endParaRPr lang="en-US" sz="3600" dirty="0"/>
          </a:p>
        </p:txBody>
      </p:sp>
      <p:sp>
        <p:nvSpPr>
          <p:cNvPr id="3" name="tag-288"/>
          <p:cNvSpPr/>
          <p:nvPr/>
        </p:nvSpPr>
        <p:spPr>
          <a:xfrm>
            <a:off x="548640" y="1325880"/>
            <a:ext cx="1024128" cy="329184"/>
          </a:xfrm>
          <a:prstGeom prst="roundRect">
            <a:avLst>
              <a:gd name="adj" fmla="val 13889"/>
            </a:avLst>
          </a:prstGeom>
          <a:solidFill>
            <a:schemeClr val="accent5">
              <a:alpha val="1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-289"/>
          <p:cNvSpPr txBox="1"/>
          <p:nvPr/>
        </p:nvSpPr>
        <p:spPr>
          <a:xfrm>
            <a:off x="548640" y="1325880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第二階段</a:t>
            </a:r>
            <a:endParaRPr lang="en-US" sz="1200" dirty="0"/>
          </a:p>
        </p:txBody>
      </p:sp>
      <p:sp>
        <p:nvSpPr>
          <p:cNvPr id="5" name="text-290"/>
          <p:cNvSpPr txBox="1"/>
          <p:nvPr/>
        </p:nvSpPr>
        <p:spPr>
          <a:xfrm>
            <a:off x="548640" y="18288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系統當機等來不及走正常簽核時使用：先啟用，主管 24 小時內事後處理</a:t>
            </a:r>
            <a:endParaRPr lang="en-US" sz="1800" dirty="0"/>
          </a:p>
        </p:txBody>
      </p:sp>
      <p:sp>
        <p:nvSpPr>
          <p:cNvPr id="6" name="panel-291"/>
          <p:cNvSpPr/>
          <p:nvPr/>
        </p:nvSpPr>
        <p:spPr>
          <a:xfrm>
            <a:off x="548640" y="2743200"/>
            <a:ext cx="2194560" cy="1097280"/>
          </a:xfrm>
          <a:prstGeom prst="roundRect">
            <a:avLst>
              <a:gd name="adj" fmla="val 5000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-292"/>
          <p:cNvSpPr txBox="1"/>
          <p:nvPr/>
        </p:nvSpPr>
        <p:spPr>
          <a:xfrm>
            <a:off x="621792" y="2743200"/>
            <a:ext cx="20482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送出即生效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填類別、帳號或系統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緊急事由、預估時長</a:t>
            </a:r>
            <a:endParaRPr lang="en-US" sz="1400" dirty="0"/>
          </a:p>
        </p:txBody>
      </p:sp>
      <p:sp>
        <p:nvSpPr>
          <p:cNvPr id="8" name="panel-293"/>
          <p:cNvSpPr/>
          <p:nvPr/>
        </p:nvSpPr>
        <p:spPr>
          <a:xfrm>
            <a:off x="3200400" y="2743200"/>
            <a:ext cx="2377440" cy="1097280"/>
          </a:xfrm>
          <a:prstGeom prst="roundRect">
            <a:avLst>
              <a:gd name="adj" fmla="val 5000"/>
            </a:avLst>
          </a:prstGeom>
          <a:solidFill>
            <a:schemeClr val="accent6">
              <a:alpha val="7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-294"/>
          <p:cNvSpPr txBox="1"/>
          <p:nvPr/>
        </p:nvSpPr>
        <p:spPr>
          <a:xfrm>
            <a:off x="3273552" y="2743200"/>
            <a:ext cx="22311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申請人回報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填有無異動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受影響帳號與說明</a:t>
            </a:r>
            <a:endParaRPr lang="en-US" sz="1400" dirty="0"/>
          </a:p>
        </p:txBody>
      </p:sp>
      <p:sp>
        <p:nvSpPr>
          <p:cNvPr id="10" name="panel-295"/>
          <p:cNvSpPr/>
          <p:nvPr/>
        </p:nvSpPr>
        <p:spPr>
          <a:xfrm>
            <a:off x="6400800" y="2743200"/>
            <a:ext cx="2377440" cy="1097280"/>
          </a:xfrm>
          <a:prstGeom prst="roundRect">
            <a:avLst>
              <a:gd name="adj" fmla="val 5000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-296"/>
          <p:cNvSpPr txBox="1"/>
          <p:nvPr/>
        </p:nvSpPr>
        <p:spPr>
          <a:xfrm>
            <a:off x="6473952" y="2743200"/>
            <a:ext cx="22311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主管處理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24 小時內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補核准／退回</a:t>
            </a:r>
            <a:endParaRPr lang="en-US" sz="1400" dirty="0"/>
          </a:p>
        </p:txBody>
      </p:sp>
      <p:sp>
        <p:nvSpPr>
          <p:cNvPr id="12" name="panel-297"/>
          <p:cNvSpPr/>
          <p:nvPr/>
        </p:nvSpPr>
        <p:spPr>
          <a:xfrm>
            <a:off x="9509760" y="2011680"/>
            <a:ext cx="2130552" cy="777240"/>
          </a:xfrm>
          <a:prstGeom prst="roundRect">
            <a:avLst>
              <a:gd name="adj" fmla="val 7059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-298"/>
          <p:cNvSpPr txBox="1"/>
          <p:nvPr/>
        </p:nvSpPr>
        <p:spPr>
          <a:xfrm>
            <a:off x="9582912" y="2011680"/>
            <a:ext cx="1984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補核准</a:t>
            </a:r>
            <a:endParaRPr lang="en-US" sz="1400" dirty="0"/>
          </a:p>
        </p:txBody>
      </p:sp>
      <p:sp>
        <p:nvSpPr>
          <p:cNvPr id="14" name="panel-299"/>
          <p:cNvSpPr/>
          <p:nvPr/>
        </p:nvSpPr>
        <p:spPr>
          <a:xfrm>
            <a:off x="9509760" y="2907792"/>
            <a:ext cx="2130552" cy="777240"/>
          </a:xfrm>
          <a:prstGeom prst="roundRect">
            <a:avLst>
              <a:gd name="adj" fmla="val 7059"/>
            </a:avLst>
          </a:prstGeom>
          <a:solidFill>
            <a:schemeClr val="accent4">
              <a:alpha val="12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-300"/>
          <p:cNvSpPr txBox="1"/>
          <p:nvPr/>
        </p:nvSpPr>
        <p:spPr>
          <a:xfrm>
            <a:off x="9582912" y="2907792"/>
            <a:ext cx="1984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退回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填原因，結案填調查結果</a:t>
            </a:r>
            <a:endParaRPr lang="en-US" sz="1400" dirty="0"/>
          </a:p>
        </p:txBody>
      </p:sp>
      <p:sp>
        <p:nvSpPr>
          <p:cNvPr id="16" name="panel-301"/>
          <p:cNvSpPr/>
          <p:nvPr/>
        </p:nvSpPr>
        <p:spPr>
          <a:xfrm>
            <a:off x="9509760" y="3803904"/>
            <a:ext cx="2130552" cy="777240"/>
          </a:xfrm>
          <a:prstGeom prst="roundRect">
            <a:avLst>
              <a:gd name="adj" fmla="val 7059"/>
            </a:avLst>
          </a:prstGeom>
          <a:solidFill>
            <a:schemeClr val="accent4">
              <a:alpha val="12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-302"/>
          <p:cNvSpPr txBox="1"/>
          <p:nvPr/>
        </p:nvSpPr>
        <p:spPr>
          <a:xfrm>
            <a:off x="9582912" y="3803904"/>
            <a:ext cx="1984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逾期未處理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列入異常追蹤</a:t>
            </a:r>
            <a:endParaRPr lang="en-US" sz="1400" dirty="0"/>
          </a:p>
        </p:txBody>
      </p:sp>
      <p:sp>
        <p:nvSpPr>
          <p:cNvPr id="18" name="line-303"/>
          <p:cNvSpPr/>
          <p:nvPr/>
        </p:nvSpPr>
        <p:spPr>
          <a:xfrm>
            <a:off x="2788920" y="3291840"/>
            <a:ext cx="36576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9" name="line-304"/>
          <p:cNvSpPr/>
          <p:nvPr/>
        </p:nvSpPr>
        <p:spPr>
          <a:xfrm>
            <a:off x="5623560" y="3291840"/>
            <a:ext cx="73152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0" name="line-305"/>
          <p:cNvSpPr/>
          <p:nvPr/>
        </p:nvSpPr>
        <p:spPr>
          <a:xfrm flipV="1">
            <a:off x="8823960" y="2400300"/>
            <a:ext cx="640080" cy="89154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1" name="line-306"/>
          <p:cNvSpPr/>
          <p:nvPr/>
        </p:nvSpPr>
        <p:spPr>
          <a:xfrm>
            <a:off x="8823960" y="3291840"/>
            <a:ext cx="640080" cy="4572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2" name="line-307"/>
          <p:cNvSpPr/>
          <p:nvPr/>
        </p:nvSpPr>
        <p:spPr>
          <a:xfrm>
            <a:off x="8823960" y="3291840"/>
            <a:ext cx="640080" cy="90068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3" name="panel-308"/>
          <p:cNvSpPr/>
          <p:nvPr/>
        </p:nvSpPr>
        <p:spPr>
          <a:xfrm>
            <a:off x="548640" y="4983480"/>
            <a:ext cx="11094415" cy="1097280"/>
          </a:xfrm>
          <a:prstGeom prst="roundRect">
            <a:avLst>
              <a:gd name="adj" fmla="val 5000"/>
            </a:avLst>
          </a:prstGeom>
          <a:solidFill>
            <a:schemeClr val="accent6">
              <a:alpha val="7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-309"/>
          <p:cNvSpPr txBox="1"/>
          <p:nvPr/>
        </p:nvSpPr>
        <p:spPr>
          <a:xfrm>
            <a:off x="822960" y="498348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核准資格：資訊主管、資訊治理主管、Infra 主管。由實際操作的申請人回報這次有沒有異動帳號，主管負責核對；退回的案件須由主管結案並說明調查結果。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機房巡檢</a:t>
            </a:r>
            <a:endParaRPr lang="en-US" sz="3600" dirty="0"/>
          </a:p>
        </p:txBody>
      </p:sp>
      <p:sp>
        <p:nvSpPr>
          <p:cNvPr id="3" name="tag-310"/>
          <p:cNvSpPr/>
          <p:nvPr/>
        </p:nvSpPr>
        <p:spPr>
          <a:xfrm>
            <a:off x="548640" y="1325880"/>
            <a:ext cx="1024128" cy="329184"/>
          </a:xfrm>
          <a:prstGeom prst="roundRect">
            <a:avLst>
              <a:gd name="adj" fmla="val 13889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-311"/>
          <p:cNvSpPr txBox="1"/>
          <p:nvPr/>
        </p:nvSpPr>
        <p:spPr>
          <a:xfrm>
            <a:off x="548640" y="1325880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第一階段</a:t>
            </a:r>
            <a:endParaRPr lang="en-US" sz="1200" dirty="0"/>
          </a:p>
        </p:txBody>
      </p:sp>
      <p:sp>
        <p:nvSpPr>
          <p:cNvPr id="5" name="panel-312"/>
          <p:cNvSpPr/>
          <p:nvPr/>
        </p:nvSpPr>
        <p:spPr>
          <a:xfrm>
            <a:off x="548640" y="1874520"/>
            <a:ext cx="2286000" cy="914400"/>
          </a:xfrm>
          <a:prstGeom prst="roundRect">
            <a:avLst>
              <a:gd name="adj" fmla="val 6000"/>
            </a:avLst>
          </a:prstGeom>
          <a:solidFill>
            <a:schemeClr val="accent6">
              <a:alpha val="7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-313"/>
          <p:cNvSpPr txBox="1"/>
          <p:nvPr/>
        </p:nvSpPr>
        <p:spPr>
          <a:xfrm>
            <a:off x="621792" y="1874520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填寫 14 項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逐項勾選正常／異常</a:t>
            </a:r>
            <a:endParaRPr lang="en-US" sz="1400" dirty="0"/>
          </a:p>
        </p:txBody>
      </p:sp>
      <p:sp>
        <p:nvSpPr>
          <p:cNvPr id="7" name="panel-314"/>
          <p:cNvSpPr/>
          <p:nvPr/>
        </p:nvSpPr>
        <p:spPr>
          <a:xfrm>
            <a:off x="3383280" y="1874520"/>
            <a:ext cx="2011680" cy="914400"/>
          </a:xfrm>
          <a:prstGeom prst="roundRect">
            <a:avLst>
              <a:gd name="adj" fmla="val 60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-315"/>
          <p:cNvSpPr txBox="1"/>
          <p:nvPr/>
        </p:nvSpPr>
        <p:spPr>
          <a:xfrm>
            <a:off x="3456432" y="187452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正常結案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無異常</a:t>
            </a:r>
            <a:endParaRPr lang="en-US" sz="1400" dirty="0"/>
          </a:p>
        </p:txBody>
      </p:sp>
      <p:sp>
        <p:nvSpPr>
          <p:cNvPr id="9" name="panel-316"/>
          <p:cNvSpPr/>
          <p:nvPr/>
        </p:nvSpPr>
        <p:spPr>
          <a:xfrm>
            <a:off x="3383280" y="3063240"/>
            <a:ext cx="2011680" cy="914400"/>
          </a:xfrm>
          <a:prstGeom prst="roundRect">
            <a:avLst>
              <a:gd name="adj" fmla="val 6000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-317"/>
          <p:cNvSpPr txBox="1"/>
          <p:nvPr/>
        </p:nvSpPr>
        <p:spPr>
          <a:xfrm>
            <a:off x="3456432" y="306324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有異常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填異常原因</a:t>
            </a:r>
            <a:endParaRPr lang="en-US" sz="1400" dirty="0"/>
          </a:p>
        </p:txBody>
      </p:sp>
      <p:sp>
        <p:nvSpPr>
          <p:cNvPr id="11" name="panel-318"/>
          <p:cNvSpPr/>
          <p:nvPr/>
        </p:nvSpPr>
        <p:spPr>
          <a:xfrm>
            <a:off x="6217920" y="3063240"/>
            <a:ext cx="2377440" cy="914400"/>
          </a:xfrm>
          <a:prstGeom prst="roundRect">
            <a:avLst>
              <a:gd name="adj" fmla="val 6000"/>
            </a:avLst>
          </a:prstGeom>
          <a:solidFill>
            <a:schemeClr val="accent6">
              <a:alpha val="7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-319"/>
          <p:cNvSpPr txBox="1"/>
          <p:nvPr/>
        </p:nvSpPr>
        <p:spPr>
          <a:xfrm>
            <a:off x="6291072" y="3063240"/>
            <a:ext cx="2231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處理異常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填處理方式與結果</a:t>
            </a:r>
            <a:endParaRPr lang="en-US" sz="1400" dirty="0"/>
          </a:p>
        </p:txBody>
      </p:sp>
      <p:sp>
        <p:nvSpPr>
          <p:cNvPr id="13" name="panel-320"/>
          <p:cNvSpPr/>
          <p:nvPr/>
        </p:nvSpPr>
        <p:spPr>
          <a:xfrm>
            <a:off x="9418320" y="3063240"/>
            <a:ext cx="2221992" cy="914400"/>
          </a:xfrm>
          <a:prstGeom prst="roundRect">
            <a:avLst>
              <a:gd name="adj" fmla="val 60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-321"/>
          <p:cNvSpPr txBox="1"/>
          <p:nvPr/>
        </p:nvSpPr>
        <p:spPr>
          <a:xfrm>
            <a:off x="9491472" y="30632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異常已排除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全部處理完</a:t>
            </a:r>
            <a:endParaRPr lang="en-US" sz="1400" dirty="0"/>
          </a:p>
        </p:txBody>
      </p:sp>
      <p:sp>
        <p:nvSpPr>
          <p:cNvPr id="15" name="line-322"/>
          <p:cNvSpPr/>
          <p:nvPr/>
        </p:nvSpPr>
        <p:spPr>
          <a:xfrm>
            <a:off x="2880360" y="2331720"/>
            <a:ext cx="45720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6" name="line-323"/>
          <p:cNvSpPr/>
          <p:nvPr/>
        </p:nvSpPr>
        <p:spPr>
          <a:xfrm>
            <a:off x="2880360" y="2514600"/>
            <a:ext cx="457200" cy="100584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7" name="line-324"/>
          <p:cNvSpPr/>
          <p:nvPr/>
        </p:nvSpPr>
        <p:spPr>
          <a:xfrm>
            <a:off x="5440680" y="3520440"/>
            <a:ext cx="73152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8" name="line-325"/>
          <p:cNvSpPr/>
          <p:nvPr/>
        </p:nvSpPr>
        <p:spPr>
          <a:xfrm>
            <a:off x="8641080" y="3520440"/>
            <a:ext cx="73152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9" name="text-326"/>
          <p:cNvSpPr txBox="1"/>
          <p:nvPr/>
        </p:nvSpPr>
        <p:spPr>
          <a:xfrm>
            <a:off x="6217920" y="205740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送出後不可修改結果，只能補填處理結果，確保紀錄可作為稽核證據</a:t>
            </a:r>
            <a:endParaRPr lang="en-US" sz="1400" dirty="0"/>
          </a:p>
        </p:txBody>
      </p:sp>
      <p:sp>
        <p:nvSpPr>
          <p:cNvPr id="20" name="panel-327"/>
          <p:cNvSpPr/>
          <p:nvPr/>
        </p:nvSpPr>
        <p:spPr>
          <a:xfrm>
            <a:off x="548640" y="4343400"/>
            <a:ext cx="6583680" cy="1737360"/>
          </a:xfrm>
          <a:prstGeom prst="roundRect">
            <a:avLst>
              <a:gd name="adj" fmla="val 3158"/>
            </a:avLst>
          </a:prstGeom>
          <a:solidFill>
            <a:schemeClr val="accent6">
              <a:alpha val="7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-328"/>
          <p:cNvSpPr txBox="1"/>
          <p:nvPr/>
        </p:nvSpPr>
        <p:spPr>
          <a:xfrm>
            <a:off x="777240" y="4434840"/>
            <a:ext cx="6126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甲、機房環境設施（10 項）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6"/>
                </a:solidFill>
              </a:rPr>
              <a:t>溫度、溼度、UPS 電力、UPS 電池、精密空調、消防偵煙、滅火系統、門禁、監視、漏水偵測</a:t>
            </a:r>
            <a:endParaRPr lang="en-US" sz="1400" dirty="0"/>
          </a:p>
        </p:txBody>
      </p:sp>
      <p:sp>
        <p:nvSpPr>
          <p:cNvPr id="22" name="panel-329"/>
          <p:cNvSpPr/>
          <p:nvPr/>
        </p:nvSpPr>
        <p:spPr>
          <a:xfrm>
            <a:off x="7315200" y="4343400"/>
            <a:ext cx="4325112" cy="1737360"/>
          </a:xfrm>
          <a:prstGeom prst="roundRect">
            <a:avLst>
              <a:gd name="adj" fmla="val 3158"/>
            </a:avLst>
          </a:prstGeom>
          <a:solidFill>
            <a:schemeClr val="accent6">
              <a:alpha val="7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-330"/>
          <p:cNvSpPr txBox="1"/>
          <p:nvPr/>
        </p:nvSpPr>
        <p:spPr>
          <a:xfrm>
            <a:off x="7543800" y="4434840"/>
            <a:ext cx="3886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乙、資訊設備面板（4 項）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6"/>
                </a:solidFill>
              </a:rPr>
              <a:t>交換器、路由器/防火牆、伺服器、儲存陣列的告警燈號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功能清單</a:t>
            </a:r>
            <a:endParaRPr lang="en-US" sz="3600" dirty="0"/>
          </a:p>
        </p:txBody>
      </p:sp>
      <p:sp>
        <p:nvSpPr>
          <p:cNvPr id="3" name="panel-331"/>
          <p:cNvSpPr/>
          <p:nvPr/>
        </p:nvSpPr>
        <p:spPr>
          <a:xfrm>
            <a:off x="548640" y="1371600"/>
            <a:ext cx="6675120" cy="4754880"/>
          </a:xfrm>
          <a:prstGeom prst="roundRect">
            <a:avLst>
              <a:gd name="adj" fmla="val 1154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ag-332"/>
          <p:cNvSpPr/>
          <p:nvPr/>
        </p:nvSpPr>
        <p:spPr>
          <a:xfrm>
            <a:off x="777240" y="1536192"/>
            <a:ext cx="1024128" cy="329184"/>
          </a:xfrm>
          <a:prstGeom prst="roundRect">
            <a:avLst>
              <a:gd name="adj" fmla="val 13889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-333"/>
          <p:cNvSpPr txBox="1"/>
          <p:nvPr/>
        </p:nvSpPr>
        <p:spPr>
          <a:xfrm>
            <a:off x="777240" y="1536192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第一階段</a:t>
            </a:r>
            <a:endParaRPr lang="en-US" sz="1200" dirty="0"/>
          </a:p>
        </p:txBody>
      </p:sp>
      <p:sp>
        <p:nvSpPr>
          <p:cNvPr id="6" name="text-334"/>
          <p:cNvSpPr txBox="1"/>
          <p:nvPr/>
        </p:nvSpPr>
        <p:spPr>
          <a:xfrm>
            <a:off x="822960" y="2011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機房異動申請（翻寫）</a:t>
            </a:r>
            <a:endParaRPr lang="en-US" sz="1400" dirty="0"/>
          </a:p>
        </p:txBody>
      </p:sp>
      <p:sp>
        <p:nvSpPr>
          <p:cNvPr id="7" name="text-335"/>
          <p:cNvSpPr txBox="1"/>
          <p:nvPr/>
        </p:nvSpPr>
        <p:spPr>
          <a:xfrm>
            <a:off x="434340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依原有作業</a:t>
            </a:r>
            <a:endParaRPr lang="en-US" sz="1400" dirty="0"/>
          </a:p>
        </p:txBody>
      </p:sp>
      <p:sp>
        <p:nvSpPr>
          <p:cNvPr id="8" name="text-336"/>
          <p:cNvSpPr txBox="1"/>
          <p:nvPr/>
        </p:nvSpPr>
        <p:spPr>
          <a:xfrm>
            <a:off x="822960" y="241401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首頁儀表板</a:t>
            </a:r>
            <a:endParaRPr lang="en-US" sz="1400" dirty="0"/>
          </a:p>
        </p:txBody>
      </p:sp>
      <p:sp>
        <p:nvSpPr>
          <p:cNvPr id="9" name="text-337"/>
          <p:cNvSpPr txBox="1"/>
          <p:nvPr/>
        </p:nvSpPr>
        <p:spPr>
          <a:xfrm>
            <a:off x="4343400" y="24140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所有人</a:t>
            </a:r>
            <a:endParaRPr lang="en-US" sz="1400" dirty="0"/>
          </a:p>
        </p:txBody>
      </p:sp>
      <p:sp>
        <p:nvSpPr>
          <p:cNvPr id="10" name="text-338"/>
          <p:cNvSpPr txBox="1"/>
          <p:nvPr/>
        </p:nvSpPr>
        <p:spPr>
          <a:xfrm>
            <a:off x="822960" y="28163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帳號申請</a:t>
            </a:r>
            <a:endParaRPr lang="en-US" sz="1400" dirty="0"/>
          </a:p>
        </p:txBody>
      </p:sp>
      <p:sp>
        <p:nvSpPr>
          <p:cNvPr id="11" name="text-339"/>
          <p:cNvSpPr txBox="1"/>
          <p:nvPr/>
        </p:nvSpPr>
        <p:spPr>
          <a:xfrm>
            <a:off x="4343400" y="28163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所有人</a:t>
            </a:r>
            <a:endParaRPr lang="en-US" sz="1400" dirty="0"/>
          </a:p>
        </p:txBody>
      </p:sp>
      <p:sp>
        <p:nvSpPr>
          <p:cNvPr id="12" name="text-340"/>
          <p:cNvSpPr txBox="1"/>
          <p:nvPr/>
        </p:nvSpPr>
        <p:spPr>
          <a:xfrm>
            <a:off x="822960" y="32186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我的申請單</a:t>
            </a:r>
            <a:endParaRPr lang="en-US" sz="1400" dirty="0"/>
          </a:p>
        </p:txBody>
      </p:sp>
      <p:sp>
        <p:nvSpPr>
          <p:cNvPr id="13" name="text-341"/>
          <p:cNvSpPr txBox="1"/>
          <p:nvPr/>
        </p:nvSpPr>
        <p:spPr>
          <a:xfrm>
            <a:off x="4343400" y="32186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所有人（只看自己的）</a:t>
            </a:r>
            <a:endParaRPr lang="en-US" sz="1400" dirty="0"/>
          </a:p>
        </p:txBody>
      </p:sp>
      <p:sp>
        <p:nvSpPr>
          <p:cNvPr id="14" name="text-342"/>
          <p:cNvSpPr txBox="1"/>
          <p:nvPr/>
        </p:nvSpPr>
        <p:spPr>
          <a:xfrm>
            <a:off x="822960" y="362102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待辦簽核</a:t>
            </a:r>
            <a:endParaRPr lang="en-US" sz="1400" dirty="0"/>
          </a:p>
        </p:txBody>
      </p:sp>
      <p:sp>
        <p:nvSpPr>
          <p:cNvPr id="15" name="text-343"/>
          <p:cNvSpPr txBox="1"/>
          <p:nvPr/>
        </p:nvSpPr>
        <p:spPr>
          <a:xfrm>
            <a:off x="4343400" y="36210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依角色自動列出</a:t>
            </a:r>
            <a:endParaRPr lang="en-US" sz="1400" dirty="0"/>
          </a:p>
        </p:txBody>
      </p:sp>
      <p:sp>
        <p:nvSpPr>
          <p:cNvPr id="16" name="text-344"/>
          <p:cNvSpPr txBox="1"/>
          <p:nvPr/>
        </p:nvSpPr>
        <p:spPr>
          <a:xfrm>
            <a:off x="822960" y="4023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完整帳號清單與歷史</a:t>
            </a:r>
            <a:endParaRPr lang="en-US" sz="1400" dirty="0"/>
          </a:p>
        </p:txBody>
      </p:sp>
      <p:sp>
        <p:nvSpPr>
          <p:cNvPr id="17" name="text-345"/>
          <p:cNvSpPr txBox="1"/>
          <p:nvPr/>
        </p:nvSpPr>
        <p:spPr>
          <a:xfrm>
            <a:off x="4343400" y="4023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帳號清冊檢視</a:t>
            </a:r>
            <a:endParaRPr lang="en-US" sz="1400" dirty="0"/>
          </a:p>
        </p:txBody>
      </p:sp>
      <p:sp>
        <p:nvSpPr>
          <p:cNvPr id="18" name="text-346"/>
          <p:cNvSpPr txBox="1"/>
          <p:nvPr/>
        </p:nvSpPr>
        <p:spPr>
          <a:xfrm>
            <a:off x="822960" y="442569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到期提醒與 Email 通知</a:t>
            </a:r>
            <a:endParaRPr lang="en-US" sz="1400" dirty="0"/>
          </a:p>
        </p:txBody>
      </p:sp>
      <p:sp>
        <p:nvSpPr>
          <p:cNvPr id="19" name="text-347"/>
          <p:cNvSpPr txBox="1"/>
          <p:nvPr/>
        </p:nvSpPr>
        <p:spPr>
          <a:xfrm>
            <a:off x="4343400" y="442569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自動</a:t>
            </a:r>
            <a:endParaRPr lang="en-US" sz="1400" dirty="0"/>
          </a:p>
        </p:txBody>
      </p:sp>
      <p:sp>
        <p:nvSpPr>
          <p:cNvPr id="20" name="text-348"/>
          <p:cNvSpPr txBox="1"/>
          <p:nvPr/>
        </p:nvSpPr>
        <p:spPr>
          <a:xfrm>
            <a:off x="822960" y="48280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機房巡檢</a:t>
            </a:r>
            <a:endParaRPr lang="en-US" sz="1400" dirty="0"/>
          </a:p>
        </p:txBody>
      </p:sp>
      <p:sp>
        <p:nvSpPr>
          <p:cNvPr id="21" name="text-349"/>
          <p:cNvSpPr txBox="1"/>
          <p:nvPr/>
        </p:nvSpPr>
        <p:spPr>
          <a:xfrm>
            <a:off x="4343400" y="48280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巡檢人員</a:t>
            </a:r>
            <a:endParaRPr lang="en-US" sz="1400" dirty="0"/>
          </a:p>
        </p:txBody>
      </p:sp>
      <p:sp>
        <p:nvSpPr>
          <p:cNvPr id="22" name="text-350"/>
          <p:cNvSpPr txBox="1"/>
          <p:nvPr/>
        </p:nvSpPr>
        <p:spPr>
          <a:xfrm>
            <a:off x="822960" y="52303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資產分類說明</a:t>
            </a:r>
            <a:endParaRPr lang="en-US" sz="1400" dirty="0"/>
          </a:p>
        </p:txBody>
      </p:sp>
      <p:sp>
        <p:nvSpPr>
          <p:cNvPr id="23" name="text-351"/>
          <p:cNvSpPr txBox="1"/>
          <p:nvPr/>
        </p:nvSpPr>
        <p:spPr>
          <a:xfrm>
            <a:off x="4343400" y="52303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所有人</a:t>
            </a:r>
            <a:endParaRPr lang="en-US" sz="1400" dirty="0"/>
          </a:p>
        </p:txBody>
      </p:sp>
      <p:sp>
        <p:nvSpPr>
          <p:cNvPr id="24" name="text-352"/>
          <p:cNvSpPr txBox="1"/>
          <p:nvPr/>
        </p:nvSpPr>
        <p:spPr>
          <a:xfrm>
            <a:off x="822960" y="563270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角色維護、切換身分</a:t>
            </a:r>
            <a:endParaRPr lang="en-US" sz="1400" dirty="0"/>
          </a:p>
        </p:txBody>
      </p:sp>
      <p:sp>
        <p:nvSpPr>
          <p:cNvPr id="25" name="text-353"/>
          <p:cNvSpPr txBox="1"/>
          <p:nvPr/>
        </p:nvSpPr>
        <p:spPr>
          <a:xfrm>
            <a:off x="4343400" y="56327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系統管理員</a:t>
            </a:r>
            <a:endParaRPr lang="en-US" sz="1400" dirty="0"/>
          </a:p>
        </p:txBody>
      </p:sp>
      <p:sp>
        <p:nvSpPr>
          <p:cNvPr id="26" name="panel-354"/>
          <p:cNvSpPr/>
          <p:nvPr/>
        </p:nvSpPr>
        <p:spPr>
          <a:xfrm>
            <a:off x="7452360" y="1371600"/>
            <a:ext cx="4187952" cy="4754880"/>
          </a:xfrm>
          <a:prstGeom prst="roundRect">
            <a:avLst>
              <a:gd name="adj" fmla="val 1310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ag-355"/>
          <p:cNvSpPr/>
          <p:nvPr/>
        </p:nvSpPr>
        <p:spPr>
          <a:xfrm>
            <a:off x="7680960" y="1536192"/>
            <a:ext cx="1024128" cy="329184"/>
          </a:xfrm>
          <a:prstGeom prst="roundRect">
            <a:avLst>
              <a:gd name="adj" fmla="val 13889"/>
            </a:avLst>
          </a:prstGeom>
          <a:solidFill>
            <a:schemeClr val="accent5">
              <a:alpha val="1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8" name="text-356"/>
          <p:cNvSpPr txBox="1"/>
          <p:nvPr/>
        </p:nvSpPr>
        <p:spPr>
          <a:xfrm>
            <a:off x="7680960" y="1536192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第二階段</a:t>
            </a:r>
            <a:endParaRPr lang="en-US" sz="1200" dirty="0"/>
          </a:p>
        </p:txBody>
      </p:sp>
      <p:sp>
        <p:nvSpPr>
          <p:cNvPr id="29" name="text-357"/>
          <p:cNvSpPr txBox="1"/>
          <p:nvPr/>
        </p:nvSpPr>
        <p:spPr>
          <a:xfrm>
            <a:off x="7726680" y="2057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定期權限審查</a:t>
            </a:r>
            <a:endParaRPr lang="en-US" sz="1500" dirty="0"/>
          </a:p>
        </p:txBody>
      </p:sp>
      <p:sp>
        <p:nvSpPr>
          <p:cNvPr id="30" name="text-358"/>
          <p:cNvSpPr txBox="1"/>
          <p:nvPr/>
        </p:nvSpPr>
        <p:spPr>
          <a:xfrm>
            <a:off x="7726680" y="240487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主管</a:t>
            </a:r>
            <a:endParaRPr lang="en-US" sz="1400" dirty="0"/>
          </a:p>
        </p:txBody>
      </p:sp>
      <p:sp>
        <p:nvSpPr>
          <p:cNvPr id="31" name="text-359"/>
          <p:cNvSpPr txBox="1"/>
          <p:nvPr/>
        </p:nvSpPr>
        <p:spPr>
          <a:xfrm>
            <a:off x="7726680" y="3017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緊急存取</a:t>
            </a:r>
            <a:endParaRPr lang="en-US" sz="1500" dirty="0"/>
          </a:p>
        </p:txBody>
      </p:sp>
      <p:sp>
        <p:nvSpPr>
          <p:cNvPr id="32" name="text-360"/>
          <p:cNvSpPr txBox="1"/>
          <p:nvPr/>
        </p:nvSpPr>
        <p:spPr>
          <a:xfrm>
            <a:off x="7726680" y="33649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申請：所有人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核准：主管</a:t>
            </a:r>
            <a:endParaRPr lang="en-US" sz="1400" dirty="0"/>
          </a:p>
        </p:txBody>
      </p:sp>
      <p:sp>
        <p:nvSpPr>
          <p:cNvPr id="33" name="text-361"/>
          <p:cNvSpPr txBox="1"/>
          <p:nvPr/>
        </p:nvSpPr>
        <p:spPr>
          <a:xfrm>
            <a:off x="7726680" y="39776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統計頁</a:t>
            </a:r>
            <a:endParaRPr lang="en-US" sz="1500" dirty="0"/>
          </a:p>
        </p:txBody>
      </p:sp>
      <p:sp>
        <p:nvSpPr>
          <p:cNvPr id="34" name="text-362"/>
          <p:cNvSpPr txBox="1"/>
          <p:nvPr/>
        </p:nvSpPr>
        <p:spPr>
          <a:xfrm>
            <a:off x="7726680" y="43251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所有人</a:t>
            </a:r>
            <a:endParaRPr lang="en-US" sz="1400" dirty="0"/>
          </a:p>
        </p:txBody>
      </p:sp>
      <p:sp>
        <p:nvSpPr>
          <p:cNvPr id="35" name="text-363"/>
          <p:cNvSpPr txBox="1"/>
          <p:nvPr/>
        </p:nvSpPr>
        <p:spPr>
          <a:xfrm>
            <a:off x="7726680" y="4937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匯出（Excel）</a:t>
            </a:r>
            <a:endParaRPr lang="en-US" sz="1500" dirty="0"/>
          </a:p>
        </p:txBody>
      </p:sp>
      <p:sp>
        <p:nvSpPr>
          <p:cNvPr id="36" name="text-364"/>
          <p:cNvSpPr txBox="1"/>
          <p:nvPr/>
        </p:nvSpPr>
        <p:spPr>
          <a:xfrm>
            <a:off x="7726680" y="528523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帳號清冊檢視、巡檢人員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分階段範圍</a:t>
            </a:r>
            <a:endParaRPr lang="en-US" sz="3600" dirty="0"/>
          </a:p>
        </p:txBody>
      </p:sp>
      <p:sp>
        <p:nvSpPr>
          <p:cNvPr id="3" name="panel-365"/>
          <p:cNvSpPr/>
          <p:nvPr/>
        </p:nvSpPr>
        <p:spPr>
          <a:xfrm>
            <a:off x="548640" y="1371600"/>
            <a:ext cx="3520440" cy="4754880"/>
          </a:xfrm>
          <a:prstGeom prst="roundRect">
            <a:avLst>
              <a:gd name="adj" fmla="val 1558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-366"/>
          <p:cNvSpPr txBox="1"/>
          <p:nvPr/>
        </p:nvSpPr>
        <p:spPr>
          <a:xfrm>
            <a:off x="822960" y="157276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第一階段</a:t>
            </a:r>
            <a:endParaRPr lang="en-US" sz="2200" dirty="0"/>
          </a:p>
        </p:txBody>
      </p:sp>
      <p:sp>
        <p:nvSpPr>
          <p:cNvPr id="5" name="text-367"/>
          <p:cNvSpPr txBox="1"/>
          <p:nvPr/>
        </p:nvSpPr>
        <p:spPr>
          <a:xfrm>
            <a:off x="822960" y="2286000"/>
            <a:ext cx="3017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機房異動申請全面翻寫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帳號申請：8 種類別（優先開放主機、資料庫、機房門禁卡）、5 種申請類型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7 關簽核、到期管理與 Email 通知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待辦簽核、首頁、帳號清單與歷史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機房巡檢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角色權限與執行人</a:t>
            </a:r>
            <a:endParaRPr lang="en-US" sz="1500" dirty="0"/>
          </a:p>
        </p:txBody>
      </p:sp>
      <p:sp>
        <p:nvSpPr>
          <p:cNvPr id="6" name="panel-368"/>
          <p:cNvSpPr/>
          <p:nvPr/>
        </p:nvSpPr>
        <p:spPr>
          <a:xfrm>
            <a:off x="4315968" y="1371600"/>
            <a:ext cx="3520440" cy="4754880"/>
          </a:xfrm>
          <a:prstGeom prst="roundRect">
            <a:avLst>
              <a:gd name="adj" fmla="val 1558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-369"/>
          <p:cNvSpPr txBox="1"/>
          <p:nvPr/>
        </p:nvSpPr>
        <p:spPr>
          <a:xfrm>
            <a:off x="4590288" y="157276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第二階段</a:t>
            </a:r>
            <a:endParaRPr lang="en-US" sz="2200" dirty="0"/>
          </a:p>
        </p:txBody>
      </p:sp>
      <p:sp>
        <p:nvSpPr>
          <p:cNvPr id="8" name="text-370"/>
          <p:cNvSpPr txBox="1"/>
          <p:nvPr/>
        </p:nvSpPr>
        <p:spPr>
          <a:xfrm>
            <a:off x="4590288" y="2286000"/>
            <a:ext cx="3017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定期權限審查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緊急存取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統計與匯出</a:t>
            </a:r>
            <a:endParaRPr lang="en-US" sz="1500" dirty="0"/>
          </a:p>
        </p:txBody>
      </p:sp>
      <p:sp>
        <p:nvSpPr>
          <p:cNvPr id="9" name="panel-371"/>
          <p:cNvSpPr/>
          <p:nvPr/>
        </p:nvSpPr>
        <p:spPr>
          <a:xfrm>
            <a:off x="8083296" y="1371600"/>
            <a:ext cx="3520440" cy="4754880"/>
          </a:xfrm>
          <a:prstGeom prst="roundRect">
            <a:avLst>
              <a:gd name="adj" fmla="val 1558"/>
            </a:avLst>
          </a:prstGeom>
          <a:solidFill>
            <a:schemeClr val="accent6">
              <a:alpha val="7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-372"/>
          <p:cNvSpPr txBox="1"/>
          <p:nvPr/>
        </p:nvSpPr>
        <p:spPr>
          <a:xfrm>
            <a:off x="8357616" y="157276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後續評估</a:t>
            </a:r>
            <a:endParaRPr lang="en-US" sz="2200" dirty="0"/>
          </a:p>
        </p:txBody>
      </p:sp>
      <p:sp>
        <p:nvSpPr>
          <p:cNvPr id="11" name="text-373"/>
          <p:cNvSpPr txBox="1"/>
          <p:nvPr/>
        </p:nvSpPr>
        <p:spPr>
          <a:xfrm>
            <a:off x="8357616" y="2286000"/>
            <a:ext cx="3017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AD 登入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代理人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人員離職處理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既有帳號資料轉入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XIT Governance">
  <a:themeElements>
    <a:clrScheme name="PXIT Governance">
      <a:dk1>
        <a:srgbClr val="16212B"/>
      </a:dk1>
      <a:lt1>
        <a:srgbClr val="FFFFFF"/>
      </a:lt1>
      <a:dk2>
        <a:srgbClr val="175B78"/>
      </a:dk2>
      <a:lt2>
        <a:srgbClr val="D6DEE4"/>
      </a:lt2>
      <a:accent1>
        <a:srgbClr val="175B78"/>
      </a:accent1>
      <a:accent2>
        <a:srgbClr val="8A5600"/>
      </a:accent2>
      <a:accent3>
        <a:srgbClr val="1C6547"/>
      </a:accent3>
      <a:accent4>
        <a:srgbClr val="A8241C"/>
      </a:accent4>
      <a:accent5>
        <a:srgbClr val="5A3D82"/>
      </a:accent5>
      <a:accent6>
        <a:srgbClr val="4D5F6C"/>
      </a:accent6>
      <a:hlink>
        <a:srgbClr val="175B78"/>
      </a:hlink>
      <a:folHlink>
        <a:srgbClr val="5A3D82"/>
      </a:folHlink>
    </a:clrScheme>
    <a:fontScheme name="PXIT Governan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機房與帳號權限管理系統 — 系統說明</dc:title>
  <dc:subject>PptxGenJS Presentation</dc:subject>
  <dc:creator>資訊部</dc:creator>
  <cp:lastModifiedBy>資訊部</cp:lastModifiedBy>
  <cp:revision>1</cp:revision>
  <dcterms:created xsi:type="dcterms:W3CDTF">2026-10-07T06:46:39Z</dcterms:created>
  <dcterms:modified xsi:type="dcterms:W3CDTF">2026-10-07T06:46:39Z</dcterms:modified>
</cp:coreProperties>
</file>